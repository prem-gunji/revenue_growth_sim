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2651760"/>
            <a:ext cx="8915400" cy="1554480"/>
          </a:xfrm>
          <a:prstGeom prst="rect">
            <a:avLst/>
          </a:prstGeom>
          <a:solidFill>
            <a:srgbClr val="F0E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4297680"/>
            <a:ext cx="8915400" cy="2194560"/>
          </a:xfrm>
          <a:prstGeom prst="rect">
            <a:avLst/>
          </a:prstGeom>
          <a:solidFill>
            <a:srgbClr val="E6E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640080"/>
          </a:xfrm>
          <a:prstGeom prst="rect">
            <a:avLst/>
          </a:prstGeom>
          <a:noFill/>
        </p:spPr>
        <p:txBody>
          <a:bodyPr wrap="square" anchor="t" lIns="64008" rIns="64008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>
                <a:solidFill>
                  <a:srgbClr val="222222"/>
                </a:solidFill>
                <a:latin typeface="Arial"/>
              </a:rPr>
              <a:t>3 Why’s</a:t>
            </a:r>
          </a:p>
        </p:txBody>
      </p:sp>
      <p:pic>
        <p:nvPicPr>
          <p:cNvPr id="5" name="Picture 4" descr="c5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28600"/>
            <a:ext cx="1063478" cy="548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0" y="1124712"/>
            <a:ext cx="1737360" cy="1463040"/>
          </a:xfrm>
          <a:prstGeom prst="rect">
            <a:avLst/>
          </a:prstGeom>
          <a:solidFill>
            <a:srgbClr val="FCFCFC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14600" y="1188720"/>
            <a:ext cx="365760" cy="365760"/>
          </a:xfrm>
          <a:prstGeom prst="ellipse">
            <a:avLst/>
          </a:prstGeom>
          <a:solidFill>
            <a:srgbClr val="6A0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627632"/>
            <a:ext cx="1737360" cy="310896"/>
          </a:xfrm>
          <a:prstGeom prst="rect">
            <a:avLst/>
          </a:prstGeom>
          <a:solidFill>
            <a:srgbClr val="D4B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Slow, scattered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938528"/>
            <a:ext cx="17373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Price, pack and promotion what-ifs take days in spreadsheets, so the answer lands after the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697480"/>
            <a:ext cx="17373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One shared case per business question, in four steps: Situation, Options, Compare, Recommend.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Options side by side in rupees, losers included.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343400"/>
            <a:ext cx="17373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Deterministic, vectorised engine.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Shared, autosaved workspaces with conflict protection.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Export a case to PowerPoint in one click.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21024" y="1124712"/>
            <a:ext cx="1737360" cy="1463040"/>
          </a:xfrm>
          <a:prstGeom prst="rect">
            <a:avLst/>
          </a:prstGeom>
          <a:solidFill>
            <a:srgbClr val="FCFCFC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06824" y="1188720"/>
            <a:ext cx="365760" cy="365760"/>
          </a:xfrm>
          <a:prstGeom prst="ellipse">
            <a:avLst/>
          </a:prstGeom>
          <a:solidFill>
            <a:srgbClr val="6A0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1024" y="1627632"/>
            <a:ext cx="1737360" cy="310896"/>
          </a:xfrm>
          <a:prstGeom prst="rect">
            <a:avLst/>
          </a:prstGeom>
          <a:solidFill>
            <a:srgbClr val="D4B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The wrong lens on the numbers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1024" y="1938528"/>
            <a:ext cx="17373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Summing all brands counted a competitor’s profit as ours, and percentages came with no baseline.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2697480"/>
            <a:ext cx="17373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Every option is judged on the focal brand (Aurora), in INR, against today’s baseline P&amp;L, with a P10 to P90 range.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21024" y="4343400"/>
            <a:ext cx="17373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Situation page: baseline P&amp;L by pack, price gaps, 3% price, 10% promo and 8% cost probes.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Profit bridge (price, volume, cross-pack, promo, trade, cost) adds up exactly.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Focal bands checked against a brute-force reference.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3248" y="1124712"/>
            <a:ext cx="1737360" cy="1463040"/>
          </a:xfrm>
          <a:prstGeom prst="rect">
            <a:avLst/>
          </a:prstGeom>
          <a:solidFill>
            <a:srgbClr val="FCFCFC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99048" y="1188720"/>
            <a:ext cx="365760" cy="365760"/>
          </a:xfrm>
          <a:prstGeom prst="ellipse">
            <a:avLst/>
          </a:prstGeom>
          <a:solidFill>
            <a:srgbClr val="6A0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3248" y="1627632"/>
            <a:ext cx="1737360" cy="310896"/>
          </a:xfrm>
          <a:prstGeom prst="rect">
            <a:avLst/>
          </a:prstGeom>
          <a:solidFill>
            <a:srgbClr val="D4B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AI you can’t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3248" y="1938528"/>
            <a:ext cx="17373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An LLM that estimates a number, or bends a refusal, is a risk in revenue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3248" y="2697480"/>
            <a:ext cx="17373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Every figure traces to a tool result, every claim is labelled, and a REFUSED scenario never gets numbers.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3248" y="4343400"/>
            <a:ext cx="17373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Agent acts only through typed tools; the engine computes, the LLM explains.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Auditor checks each claim; every run saves a replayable trace.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Sign-in, audit trail and AI token cost on one page.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5472" y="1124712"/>
            <a:ext cx="1737360" cy="1463040"/>
          </a:xfrm>
          <a:prstGeom prst="rect">
            <a:avLst/>
          </a:prstGeom>
          <a:solidFill>
            <a:srgbClr val="FCFCFC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91272" y="1188720"/>
            <a:ext cx="365760" cy="365760"/>
          </a:xfrm>
          <a:prstGeom prst="ellipse">
            <a:avLst/>
          </a:prstGeom>
          <a:solidFill>
            <a:srgbClr val="6A0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5472" y="1627632"/>
            <a:ext cx="1737360" cy="310896"/>
          </a:xfrm>
          <a:prstGeom prst="rect">
            <a:avLst/>
          </a:prstGeom>
          <a:solidFill>
            <a:srgbClr val="D4B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Hidden assumptions, overreach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5472" y="1938528"/>
            <a:ext cx="1737360" cy="6492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Assumptions live in people’s heads, and scenarios get pushed beyond what the data supports.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5472" y="2697480"/>
            <a:ext cx="17373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Every assumption is visible, ranged and sourced; unsupported scenarios are refused, not clamped.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5472" y="4343400"/>
            <a:ext cx="17373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Assumptions registry; a source is required and test-enforced.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Support envelope decides per scenario, with a nearest-supported suggestion.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• Scenario ID reproduces any result.</a:t>
            </a:r>
          </a:p>
        </p:txBody>
      </p:sp>
      <p:sp>
        <p:nvSpPr>
          <p:cNvPr id="30" name="Pentagon 29"/>
          <p:cNvSpPr/>
          <p:nvPr/>
        </p:nvSpPr>
        <p:spPr>
          <a:xfrm>
            <a:off x="182880" y="3200400"/>
            <a:ext cx="1463040" cy="347472"/>
          </a:xfrm>
          <a:prstGeom prst="homePlate">
            <a:avLst/>
          </a:prstGeom>
          <a:solidFill>
            <a:srgbClr val="6A0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What it solves</a:t>
            </a:r>
          </a:p>
        </p:txBody>
      </p:sp>
      <p:sp>
        <p:nvSpPr>
          <p:cNvPr id="31" name="Pentagon 30"/>
          <p:cNvSpPr/>
          <p:nvPr/>
        </p:nvSpPr>
        <p:spPr>
          <a:xfrm>
            <a:off x="182880" y="5120640"/>
            <a:ext cx="1463040" cy="347472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How it solves</a:t>
            </a:r>
          </a:p>
        </p:txBody>
      </p:sp>
      <p:sp>
        <p:nvSpPr>
          <p:cNvPr id="32" name="Pentagon 31"/>
          <p:cNvSpPr/>
          <p:nvPr/>
        </p:nvSpPr>
        <p:spPr>
          <a:xfrm>
            <a:off x="182880" y="1691640"/>
            <a:ext cx="1463040" cy="347472"/>
          </a:xfrm>
          <a:prstGeom prst="homePlate">
            <a:avLst/>
          </a:prstGeom>
          <a:solidFill>
            <a:srgbClr val="6A0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Why are we doing this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1124712"/>
            <a:ext cx="2651760" cy="5349240"/>
          </a:xfrm>
          <a:prstGeom prst="rect">
            <a:avLst/>
          </a:prstGeom>
          <a:solidFill>
            <a:srgbClr val="FAF6FE"/>
          </a:solidFill>
          <a:ln w="9525">
            <a:solidFill>
              <a:srgbClr val="D4B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The idea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The agent decides what to explore and explains what it means. The deterministic engine decides what the numbers are.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Honest limits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Synthetic INR data; nothing is trained or fitted.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Competitor reaction, channels and real-data calibration are not modelled.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Speed target met at 1 and 100 scenarios; still open at 1,000 and 10,000.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64008" rIns="64008" t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A0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