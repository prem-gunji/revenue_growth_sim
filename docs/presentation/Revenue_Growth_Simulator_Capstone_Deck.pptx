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1C2F"/>
                </a:solidFill>
                <a:latin typeface="Aptos"/>
              </a:defRPr>
            </a:pPr>
            <a:r>
              <a:t>Revenue Growth Scenario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078"/>
                </a:solidFill>
                <a:latin typeface="Aptos"/>
              </a:defRPr>
            </a:pPr>
            <a:r>
              <a:t>The decision problem: commercial teams need a safe way to compare growth ideas before taking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84048"/>
            <a:ext cx="1874519" cy="50292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65792" y="5029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C3EEC"/>
                </a:solidFill>
                <a:latin typeface="Aptos"/>
              </a:defRPr>
            </a:pPr>
            <a:r>
              <a:t>Prem · 2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078"/>
                </a:solidFill>
                <a:latin typeface="Aptos"/>
              </a:defRPr>
            </a:pPr>
            <a:r>
              <a:t>Revenue Growth Scenario Simulator · CSi Ambilio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078"/>
                </a:solidFill>
                <a:latin typeface="Aptos"/>
              </a:defRPr>
            </a:pPr>
            <a:r>
              <a:t>1/6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887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6078"/>
                </a:solidFill>
                <a:latin typeface="Aptos"/>
              </a:defRPr>
            </a:pPr>
            <a:r>
              <a:t>Prem · Srinivas · Nithish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Today’s status quo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965960"/>
            <a:ext cx="4919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C2F"/>
                </a:solidFill>
                <a:latin typeface="Aptos"/>
              </a:defRPr>
            </a:pPr>
            <a:r>
              <a:t>Price and promotion choices are often evaluated in spreadsheets with opaque assumptions.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5117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551176"/>
            <a:ext cx="4919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C2F"/>
                </a:solidFill>
                <a:latin typeface="Aptos"/>
              </a:defRPr>
            </a:pPr>
            <a:r>
              <a:t>A single ‘winning’ forecast hides losers, margin trade-offs, and unsupported extrapolation.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36391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136391"/>
            <a:ext cx="4919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C2F"/>
                </a:solidFill>
                <a:latin typeface="Aptos"/>
              </a:defRPr>
            </a:pPr>
            <a:r>
              <a:t>Teams still need a fast recommendation they can challenge and reproduce.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1508760"/>
            <a:ext cx="4800600" cy="361188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82880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Who carries the pain?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514600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1C2F"/>
                </a:solidFill>
                <a:latin typeface="Aptos"/>
              </a:defRPr>
            </a:pPr>
            <a:r>
              <a:t>Commercial decision-makers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06324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C2F"/>
                </a:solidFill>
                <a:latin typeface="Aptos"/>
              </a:defRPr>
            </a:pPr>
            <a:r>
              <a:t>They need to compare price and promotion scenarios while protecting gross profit and refusing unsupported requests.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5262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9768"/>
                </a:solidFill>
                <a:latin typeface="Aptos"/>
              </a:defRPr>
            </a:pPr>
            <a:r>
              <a:t>Our response: comparison-first, refusal-first decision support.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1C2F"/>
                </a:solidFill>
                <a:latin typeface="Aptos"/>
              </a:defRPr>
            </a:pPr>
            <a:r>
              <a:t>Solution: a governed scenario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078"/>
                </a:solidFill>
                <a:latin typeface="Aptos"/>
              </a:defRPr>
            </a:pPr>
            <a:r>
              <a:t>The UI, deterministic engine and agent each have a constrained role.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84048"/>
            <a:ext cx="1874519" cy="50292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65792" y="5029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C3EEC"/>
                </a:solidFill>
                <a:latin typeface="Aptos"/>
              </a:defRPr>
            </a:pPr>
            <a:r>
              <a:t>Srinivas · 2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078"/>
                </a:solidFill>
                <a:latin typeface="Aptos"/>
              </a:defRPr>
            </a:pPr>
            <a:r>
              <a:t>Revenue Growth Scenario Simulator · CSi Ambilio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078"/>
                </a:solidFill>
                <a:latin typeface="Aptos"/>
              </a:defRPr>
            </a:pPr>
            <a:r>
              <a:t>2/6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2395728" cy="256032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1874519"/>
            <a:ext cx="411480" cy="411480"/>
          </a:xfrm>
          <a:prstGeom prst="roundRect">
            <a:avLst/>
          </a:prstGeom>
          <a:solidFill>
            <a:srgbClr val="6C3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65960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51460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1C2F"/>
                </a:solidFill>
                <a:latin typeface="Aptos"/>
              </a:defRPr>
            </a:pPr>
            <a:r>
              <a:t>Scenario 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218688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078"/>
                </a:solidFill>
                <a:latin typeface="Aptos"/>
              </a:defRPr>
            </a:pPr>
            <a:r>
              <a:t>Price, promotion and cost-shock 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1691640"/>
            <a:ext cx="2395728" cy="256032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75888" y="1874519"/>
            <a:ext cx="411480" cy="411480"/>
          </a:xfrm>
          <a:prstGeom prst="roundRect">
            <a:avLst/>
          </a:prstGeom>
          <a:solidFill>
            <a:srgbClr val="6C3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1965960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251460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1C2F"/>
                </a:solidFill>
                <a:latin typeface="Aptos"/>
              </a:defRPr>
            </a:pPr>
            <a:r>
              <a:t>Support envelope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3218688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078"/>
                </a:solidFill>
                <a:latin typeface="Aptos"/>
              </a:defRPr>
            </a:pPr>
            <a:r>
              <a:t>Reject out-of-range or unobserved combinations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1691640"/>
            <a:ext cx="2395728" cy="256032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10528" y="1874519"/>
            <a:ext cx="411480" cy="411480"/>
          </a:xfrm>
          <a:prstGeom prst="roundRect">
            <a:avLst/>
          </a:prstGeom>
          <a:solidFill>
            <a:srgbClr val="6C3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1965960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51460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1C2F"/>
                </a:solidFill>
                <a:latin typeface="Aptos"/>
              </a:defRPr>
            </a:pPr>
            <a:r>
              <a:t>Vectorised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218688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078"/>
                </a:solidFill>
                <a:latin typeface="Aptos"/>
              </a:defRPr>
            </a:pPr>
            <a:r>
              <a:t>K=200 sensitivity draws, margin bridge and hashes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2288" y="1691640"/>
            <a:ext cx="2395728" cy="256032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45168" y="1874519"/>
            <a:ext cx="411480" cy="411480"/>
          </a:xfrm>
          <a:prstGeom prst="roundRect">
            <a:avLst/>
          </a:prstGeom>
          <a:solidFill>
            <a:srgbClr val="6C3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65960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251460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1C2F"/>
                </a:solidFill>
                <a:latin typeface="Aptos"/>
              </a:defRPr>
            </a:pPr>
            <a:r>
              <a:t>Agent + Auditor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3218688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078"/>
                </a:solidFill>
                <a:latin typeface="Aptos"/>
              </a:defRPr>
            </a:pPr>
            <a:r>
              <a:t>Typed tools, grounded claims and labels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7548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1C2F"/>
                </a:solidFill>
                <a:latin typeface="Aptos"/>
              </a:defRPr>
            </a:pPr>
            <a:r>
              <a:t>Deliberate choices: parametric rather than fitted ML; refusal rather than silent clamping; deterministic Auditor rather than a second LLM judge.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1C2F"/>
                </a:solidFill>
                <a:latin typeface="Aptos"/>
              </a:defRPr>
            </a:pPr>
            <a:r>
              <a:t>Methodology: engineered, not prompted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078"/>
                </a:solidFill>
                <a:latin typeface="Aptos"/>
              </a:defRPr>
            </a:pPr>
            <a:r>
              <a:t>Specifications, typed tools and review gates constrain how the agent can 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84048"/>
            <a:ext cx="1874519" cy="50292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65792" y="5029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C3EEC"/>
                </a:solidFill>
                <a:latin typeface="Aptos"/>
              </a:defRPr>
            </a:pPr>
            <a:r>
              <a:t>Nithish · 2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078"/>
                </a:solidFill>
                <a:latin typeface="Aptos"/>
              </a:defRPr>
            </a:pPr>
            <a:r>
              <a:t>Revenue Growth Scenario Simulator · CSi Ambilio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078"/>
                </a:solidFill>
                <a:latin typeface="Aptos"/>
              </a:defRPr>
            </a:pPr>
            <a:r>
              <a:t>3/6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6108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C2F"/>
                </a:solidFill>
                <a:latin typeface="Aptos"/>
              </a:defRPr>
            </a:pPr>
            <a:r>
              <a:t>BRD acceptance criteria, architecture decisions and a sequenced task plan defined the build before implementation.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671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6108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C2F"/>
                </a:solidFill>
                <a:latin typeface="Aptos"/>
              </a:defRPr>
            </a:pPr>
            <a:r>
              <a:t>The runtime agent has typed tools only: no filesystem, network or engine-internals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2549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6108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C2F"/>
                </a:solidFill>
                <a:latin typeface="Aptos"/>
              </a:defRPr>
            </a:pPr>
            <a:r>
              <a:t>Every agent number must trace to tool output; every claim is labelled Observed, Modeled, Assumed or Recommended.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8386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483864"/>
            <a:ext cx="6108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C2F"/>
                </a:solidFill>
                <a:latin typeface="Aptos"/>
              </a:defRPr>
            </a:pPr>
            <a:r>
              <a:t>CI gates cover lint, tests, agent evaluations, dependency/secret scans and clean-clone startup.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481328"/>
            <a:ext cx="3520440" cy="352044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1810512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Review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468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1C2F"/>
                </a:solidFill>
                <a:latin typeface="Aptos"/>
              </a:defRPr>
            </a:pPr>
            <a:r>
              <a:t>Specify → build →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29077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1C2F"/>
                </a:solidFill>
                <a:latin typeface="Aptos"/>
              </a:defRPr>
            </a:pPr>
            <a:r>
              <a:t>Evaluate → audit → log defects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356616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078"/>
                </a:solidFill>
                <a:latin typeface="Aptos"/>
              </a:defRPr>
            </a:pPr>
            <a:r>
              <a:t>The defect log records real failures and their regression prevention.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1C2F"/>
                </a:solidFill>
                <a:latin typeface="Aptos"/>
              </a:defRPr>
            </a:pPr>
            <a:r>
              <a:t>Experiments and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078"/>
                </a:solidFill>
                <a:latin typeface="Aptos"/>
              </a:defRPr>
            </a:pPr>
            <a:r>
              <a:t>Measured performance and guardrail behaviour changed the implementation.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84048"/>
            <a:ext cx="1874519" cy="50292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65792" y="5029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C3EEC"/>
                </a:solidFill>
                <a:latin typeface="Aptos"/>
              </a:defRPr>
            </a:pPr>
            <a:r>
              <a:t>Srinivas · 2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078"/>
                </a:solidFill>
                <a:latin typeface="Aptos"/>
              </a:defRPr>
            </a:pPr>
            <a:r>
              <a:t>Revenue Growth Scenario Simulator · CSi Ambilio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078"/>
                </a:solidFill>
                <a:latin typeface="Aptos"/>
              </a:defRPr>
            </a:pPr>
            <a:r>
              <a:t>4/6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2395728" cy="109728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91639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29768"/>
                </a:solidFill>
                <a:latin typeface="Aptos"/>
              </a:defRPr>
            </a:pPr>
            <a:r>
              <a:t>1.74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078"/>
                </a:solidFill>
                <a:latin typeface="Aptos"/>
              </a:defRPr>
            </a:pPr>
            <a:r>
              <a:t>1-scenario p95 · budget &lt;5 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1508760"/>
            <a:ext cx="2395728" cy="109728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1691639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29768"/>
                </a:solidFill>
                <a:latin typeface="Aptos"/>
              </a:defRPr>
            </a:pPr>
            <a:r>
              <a:t>27.05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19456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078"/>
                </a:solidFill>
                <a:latin typeface="Aptos"/>
              </a:defRPr>
            </a:pPr>
            <a:r>
              <a:t>100-scenario p95 · budget &lt;50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61304" y="1508760"/>
            <a:ext cx="2395728" cy="109728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8464" y="1691639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29768"/>
                </a:solidFill>
                <a:latin typeface="Aptos"/>
              </a:defRPr>
            </a:pPr>
            <a:r>
              <a:t>20.13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4" y="219456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078"/>
                </a:solidFill>
                <a:latin typeface="Aptos"/>
              </a:defRPr>
            </a:pPr>
            <a:r>
              <a:t>1,000-scenario p95 · budget &lt;250 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49056" y="1508760"/>
            <a:ext cx="2395728" cy="109728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6" y="1691639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29768"/>
                </a:solidFill>
                <a:latin typeface="Aptos"/>
              </a:defRPr>
            </a:pPr>
            <a:r>
              <a:t>161.97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6" y="219456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078"/>
                </a:solidFill>
                <a:latin typeface="Aptos"/>
              </a:defRPr>
            </a:pPr>
            <a:r>
              <a:t>10,000-scenario p95 · budget &lt;2,000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1546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B3F4B"/>
                </a:solidFill>
                <a:latin typeface="Aptos"/>
              </a:defRPr>
            </a:pPr>
            <a:r>
              <a:t>What did not work initially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6118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611880"/>
            <a:ext cx="4919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1C2F"/>
                </a:solidFill>
                <a:latin typeface="Aptos"/>
              </a:defRPr>
            </a:pPr>
            <a:r>
              <a:t>Early full-result benchmarks missed larger batch budgets.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11480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114800"/>
            <a:ext cx="4919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1C2F"/>
                </a:solidFill>
                <a:latin typeface="Aptos"/>
              </a:defRPr>
            </a:pPr>
            <a:r>
              <a:t>A nearest-supported recovery moved unrelated SKUs.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61772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617720"/>
            <a:ext cx="4919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1C2F"/>
                </a:solidFill>
                <a:latin typeface="Aptos"/>
              </a:defRPr>
            </a:pPr>
            <a:r>
              <a:t>Scenario names could surface injected text in generated prose.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1546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6118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3611880"/>
            <a:ext cx="4645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1C2F"/>
                </a:solidFill>
                <a:latin typeface="Aptos"/>
              </a:defRPr>
            </a:pPr>
            <a:r>
              <a:t>Bulk quantiles, vectorised bridge work and duplicate-result reuse.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11480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4114800"/>
            <a:ext cx="4645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1C2F"/>
                </a:solidFill>
                <a:latin typeface="Aptos"/>
              </a:defRPr>
            </a:pPr>
            <a:r>
              <a:t>Nearest recovery now adjusts only implicated SKUs.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61772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6248" y="4617720"/>
            <a:ext cx="4645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1C2F"/>
                </a:solidFill>
                <a:latin typeface="Aptos"/>
              </a:defRPr>
            </a:pPr>
            <a:r>
              <a:t>Generated prose never echoes untrusted scenario names.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1C2F"/>
                </a:solidFill>
                <a:latin typeface="Aptos"/>
              </a:defRPr>
            </a:pPr>
            <a:r>
              <a:t>Results, evaluation and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078"/>
                </a:solidFill>
                <a:latin typeface="Aptos"/>
              </a:defRPr>
            </a:pPr>
            <a:r>
              <a:t>We measure both decision quality and the safety constraints around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84048"/>
            <a:ext cx="1874519" cy="50292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65792" y="5029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C3EEC"/>
                </a:solidFill>
                <a:latin typeface="Aptos"/>
              </a:defRPr>
            </a:pPr>
            <a:r>
              <a:t>Prem + Nithish · 5 min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078"/>
                </a:solidFill>
                <a:latin typeface="Aptos"/>
              </a:defRPr>
            </a:pPr>
            <a:r>
              <a:t>Revenue Growth Scenario Simulator · CSi Ambilio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078"/>
                </a:solidFill>
                <a:latin typeface="Aptos"/>
              </a:defRPr>
            </a:pPr>
            <a:r>
              <a:t>5/6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395728" cy="109728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29768"/>
                </a:solidFill>
                <a:latin typeface="Aptos"/>
              </a:defRPr>
            </a:pPr>
            <a:r>
              <a:t>43 / 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078"/>
                </a:solidFill>
                <a:latin typeface="Aptos"/>
              </a:defRPr>
            </a:pPr>
            <a:r>
              <a:t>scripted agent evaluation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1417320"/>
            <a:ext cx="2395728" cy="109728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160020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29768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10312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078"/>
                </a:solidFill>
                <a:latin typeface="Aptos"/>
              </a:defRPr>
            </a:pPr>
            <a:r>
              <a:t>grounding, refusal and injection integrity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61304" y="1417320"/>
            <a:ext cx="2395728" cy="109728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8464" y="160020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29768"/>
                </a:solidFill>
                <a:latin typeface="Aptos"/>
              </a:defRPr>
            </a:pPr>
            <a: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4" y="210312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078"/>
                </a:solidFill>
                <a:latin typeface="Aptos"/>
              </a:defRPr>
            </a:pPr>
            <a:r>
              <a:t>median optimality gap · budget ≤2%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49056" y="1417320"/>
            <a:ext cx="2395728" cy="109728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6" y="160020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29768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6" y="210312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078"/>
                </a:solidFill>
                <a:latin typeface="Aptos"/>
              </a:defRPr>
            </a:pPr>
            <a:r>
              <a:t>claim-label correctness · budget ≥95%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9718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Live demo 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3832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383280"/>
            <a:ext cx="5376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1C2F"/>
                </a:solidFill>
                <a:latin typeface="Aptos"/>
              </a:defRPr>
            </a:pPr>
            <a:r>
              <a:t>Compare baseline, a losing price move and a promotion.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86791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867912"/>
            <a:ext cx="5376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1C2F"/>
                </a:solidFill>
                <a:latin typeface="Aptos"/>
              </a:defRPr>
            </a:pPr>
            <a:r>
              <a:t>Show the refused out-of-range scenario and nearest-supported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35254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52544"/>
            <a:ext cx="5376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1C2F"/>
                </a:solidFill>
                <a:latin typeface="Aptos"/>
              </a:defRPr>
            </a:pPr>
            <a:r>
              <a:t>Open analytics: trade-off plane, margin waterfall and heatmap.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83717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837176"/>
            <a:ext cx="5376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1C2F"/>
                </a:solidFill>
                <a:latin typeface="Aptos"/>
              </a:defRPr>
            </a:pPr>
            <a:r>
              <a:t>Ask the agent for a recommendation; show Auditor badge and labels.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2980944"/>
            <a:ext cx="4251960" cy="214884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32735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3EEC"/>
                </a:solidFill>
                <a:latin typeface="Aptos"/>
              </a:defRPr>
            </a:pPr>
            <a:r>
              <a:t>Security &amp; delivery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813048"/>
            <a:ext cx="3611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1C2F"/>
                </a:solidFill>
                <a:latin typeface="Aptos"/>
              </a:defRPr>
            </a:pPr>
            <a:r>
              <a:t>CI: tests, eval gate, Bandit, pip-audit and Gitleaks. VM deployment: Nginx on 5110 → Uvicorn on private 8008.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1C2F"/>
                </a:solidFill>
                <a:latin typeface="Aptos"/>
              </a:defRPr>
            </a:pPr>
            <a:r>
              <a:t>Conclusion: useful, bounded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078"/>
                </a:solidFill>
                <a:latin typeface="Aptos"/>
              </a:defRPr>
            </a:pPr>
            <a:r>
              <a:t>A working proof of concept that tells users when it cannot safely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84048"/>
            <a:ext cx="1874519" cy="502920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65792" y="5029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C3EEC"/>
                </a:solidFill>
                <a:latin typeface="Aptos"/>
              </a:defRPr>
            </a:pPr>
            <a:r>
              <a:t>All presenters · 2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078"/>
                </a:solidFill>
                <a:latin typeface="Aptos"/>
              </a:defRPr>
            </a:pPr>
            <a:r>
              <a:t>Revenue Growth Scenario Simulator · CSi Ambilio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078"/>
                </a:solidFill>
                <a:latin typeface="Aptos"/>
              </a:defRPr>
            </a:pPr>
            <a:r>
              <a:t>6/6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08760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What we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505663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C2F"/>
                </a:solidFill>
                <a:latin typeface="Aptos"/>
              </a:defRPr>
            </a:pPr>
            <a:r>
              <a:t>A reproducible, comparison-first scenario simulator with margin and uncertainty bands.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8775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87752"/>
            <a:ext cx="505663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C2F"/>
                </a:solidFill>
                <a:latin typeface="Aptos"/>
              </a:defRPr>
            </a:pPr>
            <a:r>
              <a:t>A refusal boundary that blocks unsupported extrapolation instead of inventing a number.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20954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09544"/>
            <a:ext cx="505663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C2F"/>
                </a:solidFill>
                <a:latin typeface="Aptos"/>
              </a:defRPr>
            </a:pPr>
            <a:r>
              <a:t>An agent whose recommendations are tool-grounded, labelled and independently audited.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508760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Limitations and 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19659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1965960"/>
            <a:ext cx="4553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C2F"/>
                </a:solidFill>
                <a:latin typeface="Aptos"/>
              </a:defRPr>
            </a:pPr>
            <a:r>
              <a:t>Synthetic data only; intervals represent parameter uncertainty, not full market uncertainty.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58775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136" y="2587752"/>
            <a:ext cx="4553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C2F"/>
                </a:solidFill>
                <a:latin typeface="Aptos"/>
              </a:defRPr>
            </a:pPr>
            <a:r>
              <a:t>No competitor reaction, distribution effects or causal claims.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20954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EE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3209544"/>
            <a:ext cx="4553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C2F"/>
                </a:solidFill>
                <a:latin typeface="Aptos"/>
              </a:defRPr>
            </a:pPr>
            <a:r>
              <a:t>Next: validate against governed real data, add authentication and capture VM rollback evidence.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892040"/>
            <a:ext cx="10561320" cy="658368"/>
          </a:xfrm>
          <a:prstGeom prst="roundRect">
            <a:avLst/>
          </a:prstGeom>
          <a:solidFill>
            <a:srgbClr val="19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9320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Q&amp;A: Prem—business case and demo · Srinivas—data, model, engine and guardrails · Nithish—agent, evaluation, security and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