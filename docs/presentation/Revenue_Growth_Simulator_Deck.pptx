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91d0e4c3-ad00-f333-b170-63ec276f0ba7}">
          <p14:sldIdLst>
            <p14:sldId id="256"/>
          </p14:sldIdLst>
        </p14:section>
        <p14:section name="Solution" id="{eb4bc22c-0d92-57e3-de61-ad08b46f5558}">
          <p14:sldIdLst>
            <p14:sldId id="257"/>
          </p14:sldIdLst>
        </p14:section>
        <p14:section name="Methodology" id="{21735593-9634-e608-eaee-6693969325fc}">
          <p14:sldIdLst>
            <p14:sldId id="258"/>
          </p14:sldIdLst>
        </p14:section>
        <p14:section name="Experiments" id="{7b9e1dcd-880c-f7c6-1e62-5a91f9c04c07}">
          <p14:sldIdLst>
            <p14:sldId id="259"/>
          </p14:sldIdLst>
        </p14:section>
        <p14:section name="Results" id="{92c9a71c-6224-19aa-1dc9-d3dfd6d0ac65}">
          <p14:sldIdLst>
            <p14:sldId id="260"/>
          </p14:sldIdLst>
        </p14:section>
        <p14:section name="Conclusion" id="{08fa12cd-7820-d566-3455-364cc6181d22}">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p95 ÷ budget</c:v>
                </c:pt>
              </c:strCache>
            </c:strRef>
          </c:tx>
          <c:spPr>
            <a:solidFill>
              <a:srgbClr val="15803D"/>
            </a:solidFill>
            <a:effectLst/>
          </c:spPr>
          <c:invertIfNegative val="0"/>
          <c:dLbls>
            <c:numFmt formatCode="0.0&quot;×&quot;" sourceLinked="0"/>
            <c:txPr>
              <a:bodyPr/>
              <a:lstStyle/>
              <a:p>
                <a:pPr>
                  <a:defRPr b="0" i="0" strike="noStrike" sz="1200" u="none">
                    <a:solidFill>
                      <a:srgbClr val="1E1B3A"/>
                    </a:solidFill>
                    <a:latin typeface="+mn-lt"/>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DC2626"/>
              </a:solidFill>
              <a:effectLst/>
            </c:spPr>
          </c:dPt>
          <c:dPt>
            <c:idx val="2"/>
            <c:invertIfNegative val="0"/>
            <c:bubble3D val="0"/>
            <c:spPr>
              <a:solidFill>
                <a:srgbClr val="DC2626"/>
              </a:solidFill>
              <a:effectLst/>
            </c:spPr>
          </c:dPt>
          <c:dPt>
            <c:idx val="3"/>
            <c:invertIfNegative val="0"/>
            <c:bubble3D val="0"/>
            <c:spPr>
              <a:solidFill>
                <a:srgbClr val="DC2626"/>
              </a:solidFill>
              <a:effectLst/>
            </c:spPr>
          </c:dPt>
          <c:cat>
            <c:multiLvlStrRef>
              <c:f>Sheet1!$A$2:$A$5</c:f>
              <c:multiLvlStrCache>
                <c:ptCount val="4"/>
                <c:lvl>
                  <c:pt idx="0">
                    <c:v>1</c:v>
                  </c:pt>
                  <c:pt idx="1">
                    <c:v>100</c:v>
                  </c:pt>
                  <c:pt idx="2">
                    <c:v>1,000</c:v>
                  </c:pt>
                  <c:pt idx="3">
                    <c:v>10,000</c:v>
                  </c:pt>
                </c:lvl>
              </c:multiLvlStrCache>
            </c:multiLvlStrRef>
          </c:cat>
          <c:val>
            <c:numRef>
              <c:f>Sheet1!$B$2:$B$5</c:f>
              <c:numCache>
                <c:formatCode>General</c:formatCode>
                <c:ptCount val="4"/>
                <c:pt idx="0">
                  <c:v>0.4</c:v>
                </c:pt>
                <c:pt idx="1">
                  <c:v>1.06</c:v>
                </c:pt>
                <c:pt idx="2">
                  <c:v>2.16</c:v>
                </c:pt>
                <c:pt idx="3">
                  <c:v>8.95</c:v>
                </c:pt>
              </c:numCache>
            </c:numRef>
          </c:val>
        </c:ser>
        <c:dLbls>
          <c:numFmt formatCode="0.0&quot;×&quot;" sourceLinked="0"/>
          <c:txPr>
            <a:bodyPr/>
            <a:lstStyle/>
            <a:p>
              <a:pPr>
                <a:defRPr b="0" i="0" strike="noStrike" sz="1200" u="none">
                  <a:solidFill>
                    <a:srgbClr val="1E1B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5506E"/>
                    </a:solidFill>
                    <a:latin typeface="+mn-lt"/>
                  </a:defRPr>
                </a:pPr>
                <a:r>
                  <a:rPr sz="1200" b="0" i="0" u="none" strike="noStrike">
                    <a:solidFill>
                      <a:srgbClr val="55506E"/>
                    </a:solidFill>
                    <a:latin typeface="+mn-lt"/>
                  </a:rPr>
                  <a:t>Scenarios per request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06E"/>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4E0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06E"/>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The brief is a consumer-goods pricing problem: static spreadsheets cannot answer a what-if that moves one lever and holds another, and each scenario takes days, so few are tested and the analysis arrives after the decision. The people who carry it are pricing/category managers and the finance partner who has to defend the number. We deliberately did not invent a rupee figure for the cost of the status quo: the data is synthetic, so any such figure would be made up. Likely question: why synthetic data? Because the brief asks for synthetic elasticity data and real customer data is out of scope (no PII).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Four layers. The agent never computes: it chooses scenarios and writes the narrative; the deterministic engine produces every figure from the assumptions registry, and an Auditor rejects any number in the answer that does not trace to a tool result. Rejected options matter as much as chosen ones: no ML or fitted demand model (the brief wants stated assumptions), no clamping (we refuse the whole scenario because cross-elasticity couples every total), no model arithmetic, and no LLM-written data rows as evidence - the LLM only designs persona parameters that a seeded generator turns into respondents. Features built on top: cases on the dashboard, ranked comparison with reasons losers lose, structured refusals with the nearest supported alternative, assumption sensitivity, goal-seek, labelled one-page brief, customer personas, audit and AI-cost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We wrote the spec pack first (BRD with acceptance criteria AC-xxx, design, ADRs, task plan) and built phase by phase; the rule in CLAUDE.md is that a phase does not start until the previous acceptance check passes. The agent was driven under written constraints: CLAUDE.md engine and agent rules, hooks that block destructive shell commands, and library documentation fetched rather than recalled. Review: every agent-generated change set has a REVIEW_LOG entry, every defect caught is in DEFECTS.md (25 so far), a test enforces that each AC maps to a named test, and CI is the gate. The 296 figure is the number of collected tests, not a pass count: the browser e2e tests need free ports and were not part of the last full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Experiments and outcomes. Every row is in DEFECTS.md. The most important one for honesty is the first: our early benchmark recorded a pass because the engine skips duplicate scenarios and we had repeated 13 distinct ones. With distinct scenarios it failed the budget, we logged it and left the budget alone. The second shows why the agent must never echo untrusted text: a scenario name with digits both broke the numeric grounding check and carried an injection payload into the answer. The third changed what the whole product reports: the user's profit is the focal brand's, not the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against the brief's metrics. Agent integrity (43 eval tasks: growth, refusal, prompt-injection, edge, multi-SKU, constrained-optimisation) meets every budget - but it ran on the scripted model; live-model evals are not in CI. Engine speed: the brief's budgets are under 5 ms for 1 scenario, 50 ms for 100, 250 ms for 1,000 and 2,000 ms for 10,000. On the current 20-SKU build the single-scenario budget passes (about 2 ms) and the larger sizes do not: p95 about 53 ms, 540 ms and 17.9 s in the last run (best of nine runs 36 ms, 404 ms, 4.9 s; the host was noisy). We report the miss rather than relax the budget. Refusal correctness and reproducibility are enforced by tests (500 labelled refusal cases; byte-identical hashes). The 5.9% back-test error only shows the engine reproduces its own generating model; the P10-P90 band covered 50% of weeks, so bands are sensitivity ranges, not confidence intervals. Security: scans clean after one low finding was fixed; trivy has not been run. Deployment: artifacts exist, the VM rollback evidence has not been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What we can defend: the agent cannot invent or soften a number, refusals are enforced by the engine and tested, and results are reproducible. What we cannot claim: real-world accuracy (synthetic data), the speed budget beyond one scenario, VM rollback evidence, container scanning, or live-model evals in CI. Production path in order of risk: real data with calibration and holdout validation, performance work on the batch path, identity and monitoring, and finishing the deployment and security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tx2"/>
                </a:solidFill>
              </a:rPr>
              <a:t>Revenue Growth Scenario Simulator</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Revenue Growth Scenario Simulator</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lIns="0" tIns="0" rIns="0" bIns="0" rtlCol="0" anchor="t"/>
          <a:lstStyle/>
          <a:p>
            <a:pPr algn="l" indent="0" marL="0">
              <a:buNone/>
            </a:pPr>
            <a:r>
              <a:rPr lang="en-US" sz="3200" b="1" dirty="0">
                <a:solidFill>
                  <a:schemeClr val="bg1"/>
                </a:solidFill>
              </a:rPr>
              <a:t>Pricing decisions are debated in spreadsheets that cannot answer “what if we move this and hold that”</a:t>
            </a:r>
            <a:endParaRPr lang="en-US" sz="3200" dirty="0"/>
          </a:p>
        </p:txBody>
      </p:sp>
      <p:sp>
        <p:nvSpPr>
          <p:cNvPr id="3" name="Card 1"/>
          <p:cNvSpPr/>
          <p:nvPr/>
        </p:nvSpPr>
        <p:spPr>
          <a:xfrm>
            <a:off x="548640" y="1965960"/>
            <a:ext cx="3566160" cy="3246120"/>
          </a:xfrm>
          <a:prstGeom prst="roundRect">
            <a:avLst>
              <a:gd name="adj" fmla="val 3380"/>
            </a:avLst>
          </a:prstGeom>
          <a:solidFill>
            <a:schemeClr val="bg1">
              <a:alpha val="8000"/>
            </a:schemeClr>
          </a:solidFill>
          <a:ln w="9525">
            <a:solidFill>
              <a:schemeClr val="bg1">
                <a:alpha val="20000"/>
              </a:schemeClr>
            </a:solidFill>
            <a:prstDash val="solid"/>
          </a:ln>
        </p:spPr>
      </p:sp>
      <p:sp>
        <p:nvSpPr>
          <p:cNvPr id="4" name="Icon disc 1"/>
          <p:cNvSpPr/>
          <p:nvPr/>
        </p:nvSpPr>
        <p:spPr>
          <a:xfrm>
            <a:off x="822960" y="2240280"/>
            <a:ext cx="685800" cy="685800"/>
          </a:xfrm>
          <a:prstGeom prst="ellipse">
            <a:avLst/>
          </a:prstGeom>
          <a:solidFill>
            <a:schemeClr val="accent1"/>
          </a:solidFill>
          <a:ln w="12700">
            <a:solidFill>
              <a:schemeClr val="accent1"/>
            </a:solidFill>
            <a:prstDash val="solid"/>
          </a:ln>
        </p:spPr>
      </p:sp>
      <p:pic>
        <p:nvPicPr>
          <p:cNvPr id="5" name="Image 0" descr="Who carries the pain">    </p:cNvPr>
          <p:cNvPicPr>
            <a:picLocks noChangeAspect="1"/>
          </p:cNvPicPr>
          <p:nvPr/>
        </p:nvPicPr>
        <p:blipFill>
          <a:blip r:embed="rId1"/>
          <a:stretch>
            <a:fillRect/>
          </a:stretch>
        </p:blipFill>
        <p:spPr>
          <a:xfrm>
            <a:off x="978408" y="2395728"/>
            <a:ext cx="374904" cy="374904"/>
          </a:xfrm>
          <a:prstGeom prst="rect">
            <a:avLst/>
          </a:prstGeom>
        </p:spPr>
      </p:pic>
      <p:sp>
        <p:nvSpPr>
          <p:cNvPr id="6" name="Text 3"/>
          <p:cNvSpPr txBox="1"/>
          <p:nvPr/>
        </p:nvSpPr>
        <p:spPr>
          <a:xfrm>
            <a:off x="822960" y="3063240"/>
            <a:ext cx="301752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Who carries the pain</a:t>
            </a:r>
            <a:endParaRPr lang="en-US" sz="2000" dirty="0"/>
          </a:p>
        </p:txBody>
      </p:sp>
      <p:sp>
        <p:nvSpPr>
          <p:cNvPr id="7" name="Text 4"/>
          <p:cNvSpPr txBox="1"/>
          <p:nvPr/>
        </p:nvSpPr>
        <p:spPr>
          <a:xfrm>
            <a:off x="822960" y="3566160"/>
            <a:ext cx="3063240" cy="1508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Category and pricing managers who must propose a price or promotion</a:t>
            </a:r>
            <a:endParaRPr lang="en-US" sz="1500" dirty="0"/>
          </a:p>
          <a:p>
            <a:pPr marL="342900" indent="-342900">
              <a:spcAft>
                <a:spcPts val="800"/>
              </a:spcAft>
              <a:buSzPct val="100000"/>
              <a:buChar char="•"/>
            </a:pPr>
            <a:r>
              <a:rPr lang="en-US" sz="1500" dirty="0">
                <a:solidFill>
                  <a:schemeClr val="bg2"/>
                </a:solidFill>
              </a:rPr>
              <a:t>Commercial finance, who must defend the margin number in the room</a:t>
            </a:r>
            <a:endParaRPr lang="en-US" sz="1500" dirty="0"/>
          </a:p>
        </p:txBody>
      </p:sp>
      <p:sp>
        <p:nvSpPr>
          <p:cNvPr id="8" name="Card 2"/>
          <p:cNvSpPr/>
          <p:nvPr/>
        </p:nvSpPr>
        <p:spPr>
          <a:xfrm>
            <a:off x="4297680" y="1965960"/>
            <a:ext cx="3566160" cy="3246120"/>
          </a:xfrm>
          <a:prstGeom prst="roundRect">
            <a:avLst>
              <a:gd name="adj" fmla="val 3380"/>
            </a:avLst>
          </a:prstGeom>
          <a:solidFill>
            <a:schemeClr val="bg1">
              <a:alpha val="8000"/>
            </a:schemeClr>
          </a:solidFill>
          <a:ln w="9525">
            <a:solidFill>
              <a:schemeClr val="bg1">
                <a:alpha val="20000"/>
              </a:schemeClr>
            </a:solidFill>
            <a:prstDash val="solid"/>
          </a:ln>
        </p:spPr>
      </p:sp>
      <p:sp>
        <p:nvSpPr>
          <p:cNvPr id="9" name="Icon disc 2"/>
          <p:cNvSpPr/>
          <p:nvPr/>
        </p:nvSpPr>
        <p:spPr>
          <a:xfrm>
            <a:off x="4572000" y="2240280"/>
            <a:ext cx="685800" cy="685800"/>
          </a:xfrm>
          <a:prstGeom prst="ellipse">
            <a:avLst/>
          </a:prstGeom>
          <a:solidFill>
            <a:schemeClr val="accent1"/>
          </a:solidFill>
          <a:ln w="12700">
            <a:solidFill>
              <a:schemeClr val="accent1"/>
            </a:solidFill>
            <a:prstDash val="solid"/>
          </a:ln>
        </p:spPr>
      </p:sp>
      <p:pic>
        <p:nvPicPr>
          <p:cNvPr id="10" name="Image 1" descr="What breaks today">    </p:cNvPr>
          <p:cNvPicPr>
            <a:picLocks noChangeAspect="1"/>
          </p:cNvPicPr>
          <p:nvPr/>
        </p:nvPicPr>
        <p:blipFill>
          <a:blip r:embed="rId2"/>
          <a:stretch>
            <a:fillRect/>
          </a:stretch>
        </p:blipFill>
        <p:spPr>
          <a:xfrm>
            <a:off x="4727448" y="2395728"/>
            <a:ext cx="374904" cy="374904"/>
          </a:xfrm>
          <a:prstGeom prst="rect">
            <a:avLst/>
          </a:prstGeom>
        </p:spPr>
      </p:pic>
      <p:sp>
        <p:nvSpPr>
          <p:cNvPr id="11" name="Text 7"/>
          <p:cNvSpPr txBox="1"/>
          <p:nvPr/>
        </p:nvSpPr>
        <p:spPr>
          <a:xfrm>
            <a:off x="4572000" y="3063240"/>
            <a:ext cx="301752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What breaks today</a:t>
            </a:r>
            <a:endParaRPr lang="en-US" sz="2000" dirty="0"/>
          </a:p>
        </p:txBody>
      </p:sp>
      <p:sp>
        <p:nvSpPr>
          <p:cNvPr id="12" name="Text 8"/>
          <p:cNvSpPr txBox="1"/>
          <p:nvPr/>
        </p:nvSpPr>
        <p:spPr>
          <a:xfrm>
            <a:off x="4572000" y="3566160"/>
            <a:ext cx="3063240" cy="1508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Static spreadsheets: one scenario per workbook</a:t>
            </a:r>
            <a:endParaRPr lang="en-US" sz="1500" dirty="0"/>
          </a:p>
          <a:p>
            <a:pPr marL="342900" indent="-342900">
              <a:spcAft>
                <a:spcPts val="800"/>
              </a:spcAft>
              <a:buSzPct val="100000"/>
              <a:buChar char="•"/>
            </a:pPr>
            <a:r>
              <a:rPr lang="en-US" sz="1500" dirty="0">
                <a:solidFill>
                  <a:schemeClr val="bg2"/>
                </a:solidFill>
              </a:rPr>
              <a:t>Nothing stops a confident line through data that does not exist</a:t>
            </a:r>
            <a:endParaRPr lang="en-US" sz="1500" dirty="0"/>
          </a:p>
        </p:txBody>
      </p:sp>
      <p:sp>
        <p:nvSpPr>
          <p:cNvPr id="13" name="Card 3"/>
          <p:cNvSpPr/>
          <p:nvPr/>
        </p:nvSpPr>
        <p:spPr>
          <a:xfrm>
            <a:off x="8046720" y="1965960"/>
            <a:ext cx="3566160" cy="3246120"/>
          </a:xfrm>
          <a:prstGeom prst="roundRect">
            <a:avLst>
              <a:gd name="adj" fmla="val 3380"/>
            </a:avLst>
          </a:prstGeom>
          <a:solidFill>
            <a:schemeClr val="bg1">
              <a:alpha val="8000"/>
            </a:schemeClr>
          </a:solidFill>
          <a:ln w="9525">
            <a:solidFill>
              <a:schemeClr val="bg1">
                <a:alpha val="20000"/>
              </a:schemeClr>
            </a:solidFill>
            <a:prstDash val="solid"/>
          </a:ln>
        </p:spPr>
      </p:sp>
      <p:sp>
        <p:nvSpPr>
          <p:cNvPr id="14" name="Icon disc 3"/>
          <p:cNvSpPr/>
          <p:nvPr/>
        </p:nvSpPr>
        <p:spPr>
          <a:xfrm>
            <a:off x="8321040" y="2240280"/>
            <a:ext cx="685800" cy="685800"/>
          </a:xfrm>
          <a:prstGeom prst="ellipse">
            <a:avLst/>
          </a:prstGeom>
          <a:solidFill>
            <a:schemeClr val="accent1"/>
          </a:solidFill>
          <a:ln w="12700">
            <a:solidFill>
              <a:schemeClr val="accent1"/>
            </a:solidFill>
            <a:prstDash val="solid"/>
          </a:ln>
        </p:spPr>
      </p:sp>
      <p:pic>
        <p:nvPicPr>
          <p:cNvPr id="15" name="Image 2" descr="Cost of the status quo">    </p:cNvPr>
          <p:cNvPicPr>
            <a:picLocks noChangeAspect="1"/>
          </p:cNvPicPr>
          <p:nvPr/>
        </p:nvPicPr>
        <p:blipFill>
          <a:blip r:embed="rId3"/>
          <a:stretch>
            <a:fillRect/>
          </a:stretch>
        </p:blipFill>
        <p:spPr>
          <a:xfrm>
            <a:off x="8476488" y="2395728"/>
            <a:ext cx="374904" cy="374904"/>
          </a:xfrm>
          <a:prstGeom prst="rect">
            <a:avLst/>
          </a:prstGeom>
        </p:spPr>
      </p:pic>
      <p:sp>
        <p:nvSpPr>
          <p:cNvPr id="16" name="Text 11"/>
          <p:cNvSpPr txBox="1"/>
          <p:nvPr/>
        </p:nvSpPr>
        <p:spPr>
          <a:xfrm>
            <a:off x="8321040" y="3063240"/>
            <a:ext cx="301752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Cost of the status quo</a:t>
            </a:r>
            <a:endParaRPr lang="en-US" sz="2000" dirty="0"/>
          </a:p>
        </p:txBody>
      </p:sp>
      <p:sp>
        <p:nvSpPr>
          <p:cNvPr id="17" name="Text 12"/>
          <p:cNvSpPr txBox="1"/>
          <p:nvPr/>
        </p:nvSpPr>
        <p:spPr>
          <a:xfrm>
            <a:off x="8321040" y="3566160"/>
            <a:ext cx="3063240" cy="1508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Each scenario takes days, so few are tested</a:t>
            </a:r>
            <a:endParaRPr lang="en-US" sz="1500" dirty="0"/>
          </a:p>
          <a:p>
            <a:pPr marL="342900" indent="-342900">
              <a:spcAft>
                <a:spcPts val="800"/>
              </a:spcAft>
              <a:buSzPct val="100000"/>
              <a:buChar char="•"/>
            </a:pPr>
            <a:r>
              <a:rPr lang="en-US" sz="1500" dirty="0">
                <a:solidFill>
                  <a:schemeClr val="bg2"/>
                </a:solidFill>
              </a:rPr>
              <a:t>The analysis arrives after the decision is made</a:t>
            </a:r>
            <a:endParaRPr lang="en-US" sz="1500" dirty="0"/>
          </a:p>
        </p:txBody>
      </p:sp>
      <p:sp>
        <p:nvSpPr>
          <p:cNvPr id="18" name="Brief banner"/>
          <p:cNvSpPr/>
          <p:nvPr/>
        </p:nvSpPr>
        <p:spPr>
          <a:xfrm>
            <a:off x="548640" y="5486400"/>
            <a:ext cx="11064240" cy="685800"/>
          </a:xfrm>
          <a:prstGeom prst="roundRect">
            <a:avLst>
              <a:gd name="adj" fmla="val 13333"/>
            </a:avLst>
          </a:prstGeom>
          <a:solidFill>
            <a:schemeClr val="accent2"/>
          </a:solidFill>
          <a:ln w="12700">
            <a:solidFill>
              <a:schemeClr val="accent2"/>
            </a:solidFill>
            <a:prstDash val="solid"/>
          </a:ln>
        </p:spPr>
      </p:sp>
      <p:sp>
        <p:nvSpPr>
          <p:cNvPr id="19" name="Text 14"/>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600" b="1" dirty="0">
                <a:solidFill>
                  <a:schemeClr val="tx1"/>
                </a:solidFill>
              </a:rPr>
              <a:t>The brief: </a:t>
            </a:r>
            <a:pPr indent="0" marL="0">
              <a:buNone/>
            </a:pPr>
            <a:r>
              <a:rPr lang="en-US" sz="1600" dirty="0">
                <a:solidFill>
                  <a:schemeClr val="tx1"/>
                </a:solidFill>
              </a:rPr>
              <a:t>compute volume and margin across price, pack and promotion scenarios, compare them (losers included), and refuse to project outside the data.</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lIns="0" tIns="0" rIns="0" bIns="0" rtlCol="0" anchor="t"/>
          <a:lstStyle/>
          <a:p>
            <a:pPr algn="l" indent="0" marL="0">
              <a:buNone/>
            </a:pPr>
            <a:r>
              <a:rPr lang="en-US" sz="3200" b="1" dirty="0">
                <a:solidFill>
                  <a:schemeClr val="tx1"/>
                </a:solidFill>
              </a:rPr>
              <a:t>An agent that proposes scenarios, and an engine that alone produces the numbers</a:t>
            </a:r>
            <a:endParaRPr lang="en-US" sz="3200" dirty="0"/>
          </a:p>
        </p:txBody>
      </p:sp>
      <p:sp>
        <p:nvSpPr>
          <p:cNvPr id="3" name="Lane Interface"/>
          <p:cNvSpPr/>
          <p:nvPr/>
        </p:nvSpPr>
        <p:spPr>
          <a:xfrm>
            <a:off x="548640" y="1600200"/>
            <a:ext cx="5669280" cy="914400"/>
          </a:xfrm>
          <a:prstGeom prst="roundRect">
            <a:avLst>
              <a:gd name="adj" fmla="val 10000"/>
            </a:avLst>
          </a:prstGeom>
          <a:solidFill>
            <a:schemeClr val="bg2"/>
          </a:solidFill>
          <a:ln w="15875">
            <a:solidFill>
              <a:schemeClr val="accent1"/>
            </a:solidFill>
            <a:prstDash val="solid"/>
          </a:ln>
          <a:effectLst>
            <a:outerShdw sx="100000" sy="100000" kx="0" ky="0" algn="bl" rotWithShape="0" blurRad="101600" dist="25400" dir="5400000">
              <a:srgbClr val="000000">
                <a:alpha val="12000"/>
              </a:srgbClr>
            </a:outerShdw>
          </a:effectLst>
        </p:spPr>
      </p:sp>
      <p:sp>
        <p:nvSpPr>
          <p:cNvPr id="4" name="Lane marker 1"/>
          <p:cNvSpPr/>
          <p:nvPr/>
        </p:nvSpPr>
        <p:spPr>
          <a:xfrm>
            <a:off x="731520" y="1856232"/>
            <a:ext cx="402336" cy="402336"/>
          </a:xfrm>
          <a:prstGeom prst="ellipse">
            <a:avLst/>
          </a:prstGeom>
          <a:solidFill>
            <a:schemeClr val="accent1"/>
          </a:solidFill>
          <a:ln w="12700">
            <a:solidFill>
              <a:schemeClr val="accent1"/>
            </a:solidFill>
            <a:prstDash val="solid"/>
          </a:ln>
        </p:spPr>
      </p:sp>
      <p:sp>
        <p:nvSpPr>
          <p:cNvPr id="5" name="Text 3"/>
          <p:cNvSpPr txBox="1"/>
          <p:nvPr/>
        </p:nvSpPr>
        <p:spPr>
          <a:xfrm>
            <a:off x="731520" y="185623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325880" y="1673352"/>
            <a:ext cx="475488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Interface</a:t>
            </a:r>
            <a:endParaRPr lang="en-US" sz="1700" dirty="0"/>
          </a:p>
        </p:txBody>
      </p:sp>
      <p:sp>
        <p:nvSpPr>
          <p:cNvPr id="7" name="Text 5"/>
          <p:cNvSpPr txBox="1"/>
          <p:nvPr/>
        </p:nvSpPr>
        <p:spPr>
          <a:xfrm>
            <a:off x="1325880" y="1993392"/>
            <a:ext cx="4754880" cy="457200"/>
          </a:xfrm>
          <a:prstGeom prst="rect">
            <a:avLst/>
          </a:prstGeom>
          <a:noFill/>
          <a:ln/>
        </p:spPr>
        <p:txBody>
          <a:bodyPr wrap="square" lIns="0" tIns="0" rIns="0" bIns="0" rtlCol="0" anchor="t"/>
          <a:lstStyle/>
          <a:p>
            <a:pPr indent="0" marL="0">
              <a:buNone/>
            </a:pPr>
            <a:r>
              <a:rPr lang="en-US" sz="1300" dirty="0">
                <a:solidFill>
                  <a:schemeClr val="tx2"/>
                </a:solidFill>
              </a:rPr>
              <a:t>React + Vite. Cases (workspaces), comparison board, assistant, personas, brief export</a:t>
            </a:r>
            <a:endParaRPr lang="en-US" sz="1300" dirty="0"/>
          </a:p>
        </p:txBody>
      </p:sp>
      <p:sp>
        <p:nvSpPr>
          <p:cNvPr id="8" name="Arrow 1"/>
          <p:cNvSpPr/>
          <p:nvPr/>
        </p:nvSpPr>
        <p:spPr>
          <a:xfrm>
            <a:off x="3246120" y="2514600"/>
            <a:ext cx="274320" cy="237744"/>
          </a:xfrm>
          <a:prstGeom prst="downArrow">
            <a:avLst/>
          </a:prstGeom>
          <a:solidFill>
            <a:schemeClr val="accent6"/>
          </a:solidFill>
          <a:ln w="12700">
            <a:solidFill>
              <a:schemeClr val="accent6"/>
            </a:solidFill>
            <a:prstDash val="solid"/>
          </a:ln>
        </p:spPr>
      </p:sp>
      <p:sp>
        <p:nvSpPr>
          <p:cNvPr id="9" name="Lane Agent"/>
          <p:cNvSpPr/>
          <p:nvPr/>
        </p:nvSpPr>
        <p:spPr>
          <a:xfrm>
            <a:off x="548640" y="2770632"/>
            <a:ext cx="5669280" cy="914400"/>
          </a:xfrm>
          <a:prstGeom prst="roundRect">
            <a:avLst>
              <a:gd name="adj" fmla="val 10000"/>
            </a:avLst>
          </a:prstGeom>
          <a:solidFill>
            <a:schemeClr val="bg2"/>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10" name="Lane marker 2"/>
          <p:cNvSpPr/>
          <p:nvPr/>
        </p:nvSpPr>
        <p:spPr>
          <a:xfrm>
            <a:off x="731520" y="3026664"/>
            <a:ext cx="402336" cy="402336"/>
          </a:xfrm>
          <a:prstGeom prst="ellipse">
            <a:avLst/>
          </a:prstGeom>
          <a:solidFill>
            <a:schemeClr val="accent5"/>
          </a:solidFill>
          <a:ln w="12700">
            <a:solidFill>
              <a:schemeClr val="accent5"/>
            </a:solidFill>
            <a:prstDash val="solid"/>
          </a:ln>
        </p:spPr>
      </p:sp>
      <p:sp>
        <p:nvSpPr>
          <p:cNvPr id="11" name="Text 9"/>
          <p:cNvSpPr txBox="1"/>
          <p:nvPr/>
        </p:nvSpPr>
        <p:spPr>
          <a:xfrm>
            <a:off x="731520" y="30266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1325880" y="2843784"/>
            <a:ext cx="475488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Agent</a:t>
            </a:r>
            <a:endParaRPr lang="en-US" sz="1700" dirty="0"/>
          </a:p>
        </p:txBody>
      </p:sp>
      <p:sp>
        <p:nvSpPr>
          <p:cNvPr id="13" name="Text 11"/>
          <p:cNvSpPr txBox="1"/>
          <p:nvPr/>
        </p:nvSpPr>
        <p:spPr>
          <a:xfrm>
            <a:off x="1325880" y="3163824"/>
            <a:ext cx="4754880" cy="457200"/>
          </a:xfrm>
          <a:prstGeom prst="rect">
            <a:avLst/>
          </a:prstGeom>
          <a:noFill/>
          <a:ln/>
        </p:spPr>
        <p:txBody>
          <a:bodyPr wrap="square" lIns="0" tIns="0" rIns="0" bIns="0" rtlCol="0" anchor="t"/>
          <a:lstStyle/>
          <a:p>
            <a:pPr indent="0" marL="0">
              <a:buNone/>
            </a:pPr>
            <a:r>
              <a:rPr lang="en-US" sz="1300" dirty="0">
                <a:solidFill>
                  <a:schemeClr val="tx2"/>
                </a:solidFill>
              </a:rPr>
              <a:t>Planner → Executor → Auditor on gpt-5.1. Typed tools only; no files, network or engine internals</a:t>
            </a:r>
            <a:endParaRPr lang="en-US" sz="1300" dirty="0"/>
          </a:p>
        </p:txBody>
      </p:sp>
      <p:sp>
        <p:nvSpPr>
          <p:cNvPr id="14" name="Arrow 2"/>
          <p:cNvSpPr/>
          <p:nvPr/>
        </p:nvSpPr>
        <p:spPr>
          <a:xfrm>
            <a:off x="3246120" y="3685032"/>
            <a:ext cx="274320" cy="237744"/>
          </a:xfrm>
          <a:prstGeom prst="downArrow">
            <a:avLst/>
          </a:prstGeom>
          <a:solidFill>
            <a:schemeClr val="accent6"/>
          </a:solidFill>
          <a:ln w="12700">
            <a:solidFill>
              <a:schemeClr val="accent6"/>
            </a:solidFill>
            <a:prstDash val="solid"/>
          </a:ln>
        </p:spPr>
      </p:sp>
      <p:sp>
        <p:nvSpPr>
          <p:cNvPr id="15" name="Lane Deterministic engine"/>
          <p:cNvSpPr/>
          <p:nvPr/>
        </p:nvSpPr>
        <p:spPr>
          <a:xfrm>
            <a:off x="548640" y="3941064"/>
            <a:ext cx="5669280" cy="914400"/>
          </a:xfrm>
          <a:prstGeom prst="roundRect">
            <a:avLst>
              <a:gd name="adj" fmla="val 10000"/>
            </a:avLst>
          </a:prstGeom>
          <a:solidFill>
            <a:schemeClr val="bg2"/>
          </a:solidFill>
          <a:ln w="15875">
            <a:solidFill>
              <a:schemeClr val="accent3"/>
            </a:solidFill>
            <a:prstDash val="solid"/>
          </a:ln>
          <a:effectLst>
            <a:outerShdw sx="100000" sy="100000" kx="0" ky="0" algn="bl" rotWithShape="0" blurRad="101600" dist="25400" dir="5400000">
              <a:srgbClr val="000000">
                <a:alpha val="12000"/>
              </a:srgbClr>
            </a:outerShdw>
          </a:effectLst>
        </p:spPr>
      </p:sp>
      <p:sp>
        <p:nvSpPr>
          <p:cNvPr id="16" name="Lane marker 3"/>
          <p:cNvSpPr/>
          <p:nvPr/>
        </p:nvSpPr>
        <p:spPr>
          <a:xfrm>
            <a:off x="731520" y="4197096"/>
            <a:ext cx="402336" cy="402336"/>
          </a:xfrm>
          <a:prstGeom prst="ellipse">
            <a:avLst/>
          </a:prstGeom>
          <a:solidFill>
            <a:schemeClr val="accent3"/>
          </a:solidFill>
          <a:ln w="12700">
            <a:solidFill>
              <a:schemeClr val="accent3"/>
            </a:solidFill>
            <a:prstDash val="solid"/>
          </a:ln>
        </p:spPr>
      </p:sp>
      <p:sp>
        <p:nvSpPr>
          <p:cNvPr id="17" name="Text 15"/>
          <p:cNvSpPr txBox="1"/>
          <p:nvPr/>
        </p:nvSpPr>
        <p:spPr>
          <a:xfrm>
            <a:off x="731520" y="41970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1325880" y="4014216"/>
            <a:ext cx="475488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Deterministic engine</a:t>
            </a:r>
            <a:endParaRPr lang="en-US" sz="1700" dirty="0"/>
          </a:p>
        </p:txBody>
      </p:sp>
      <p:sp>
        <p:nvSpPr>
          <p:cNvPr id="19" name="Text 17"/>
          <p:cNvSpPr txBox="1"/>
          <p:nvPr/>
        </p:nvSpPr>
        <p:spPr>
          <a:xfrm>
            <a:off x="1325880" y="4334256"/>
            <a:ext cx="4754880" cy="457200"/>
          </a:xfrm>
          <a:prstGeom prst="rect">
            <a:avLst/>
          </a:prstGeom>
          <a:noFill/>
          <a:ln/>
        </p:spPr>
        <p:txBody>
          <a:bodyPr wrap="square" lIns="0" tIns="0" rIns="0" bIns="0" rtlCol="0" anchor="t"/>
          <a:lstStyle/>
          <a:p>
            <a:pPr indent="0" marL="0">
              <a:buNone/>
            </a:pPr>
            <a:r>
              <a:rPr lang="en-US" sz="1300" dirty="0">
                <a:solidFill>
                  <a:schemeClr val="tx2"/>
                </a:solidFill>
              </a:rPr>
              <a:t>Parametric elasticity, 20 SKUs, seeded draws, support envelope → REFUSED, result hashes</a:t>
            </a:r>
            <a:endParaRPr lang="en-US" sz="1300" dirty="0"/>
          </a:p>
        </p:txBody>
      </p:sp>
      <p:sp>
        <p:nvSpPr>
          <p:cNvPr id="20" name="Arrow 3"/>
          <p:cNvSpPr/>
          <p:nvPr/>
        </p:nvSpPr>
        <p:spPr>
          <a:xfrm>
            <a:off x="3246120" y="4855464"/>
            <a:ext cx="274320" cy="237744"/>
          </a:xfrm>
          <a:prstGeom prst="downArrow">
            <a:avLst/>
          </a:prstGeom>
          <a:solidFill>
            <a:schemeClr val="accent6"/>
          </a:solidFill>
          <a:ln w="12700">
            <a:solidFill>
              <a:schemeClr val="accent6"/>
            </a:solidFill>
            <a:prstDash val="solid"/>
          </a:ln>
        </p:spPr>
      </p:sp>
      <p:sp>
        <p:nvSpPr>
          <p:cNvPr id="21" name="Lane Assumptions registry"/>
          <p:cNvSpPr/>
          <p:nvPr/>
        </p:nvSpPr>
        <p:spPr>
          <a:xfrm>
            <a:off x="548640" y="5111496"/>
            <a:ext cx="5669280" cy="914400"/>
          </a:xfrm>
          <a:prstGeom prst="roundRect">
            <a:avLst>
              <a:gd name="adj" fmla="val 10000"/>
            </a:avLst>
          </a:prstGeom>
          <a:solidFill>
            <a:schemeClr val="bg2"/>
          </a:solidFill>
          <a:ln w="15875">
            <a:solidFill>
              <a:schemeClr val="accent2"/>
            </a:solidFill>
            <a:prstDash val="solid"/>
          </a:ln>
          <a:effectLst>
            <a:outerShdw sx="100000" sy="100000" kx="0" ky="0" algn="bl" rotWithShape="0" blurRad="101600" dist="25400" dir="5400000">
              <a:srgbClr val="000000">
                <a:alpha val="12000"/>
              </a:srgbClr>
            </a:outerShdw>
          </a:effectLst>
        </p:spPr>
      </p:sp>
      <p:sp>
        <p:nvSpPr>
          <p:cNvPr id="22" name="Lane marker 4"/>
          <p:cNvSpPr/>
          <p:nvPr/>
        </p:nvSpPr>
        <p:spPr>
          <a:xfrm>
            <a:off x="731520" y="5367528"/>
            <a:ext cx="402336" cy="402336"/>
          </a:xfrm>
          <a:prstGeom prst="ellipse">
            <a:avLst/>
          </a:prstGeom>
          <a:solidFill>
            <a:schemeClr val="accent2"/>
          </a:solidFill>
          <a:ln w="12700">
            <a:solidFill>
              <a:schemeClr val="accent2"/>
            </a:solidFill>
            <a:prstDash val="solid"/>
          </a:ln>
        </p:spPr>
      </p:sp>
      <p:sp>
        <p:nvSpPr>
          <p:cNvPr id="23" name="Text 21"/>
          <p:cNvSpPr txBox="1"/>
          <p:nvPr/>
        </p:nvSpPr>
        <p:spPr>
          <a:xfrm>
            <a:off x="731520" y="536752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1325880" y="5184648"/>
            <a:ext cx="475488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Assumptions registry</a:t>
            </a:r>
            <a:endParaRPr lang="en-US" sz="1700" dirty="0"/>
          </a:p>
        </p:txBody>
      </p:sp>
      <p:sp>
        <p:nvSpPr>
          <p:cNvPr id="25" name="Text 23"/>
          <p:cNvSpPr txBox="1"/>
          <p:nvPr/>
        </p:nvSpPr>
        <p:spPr>
          <a:xfrm>
            <a:off x="1325880" y="5504688"/>
            <a:ext cx="4754880" cy="457200"/>
          </a:xfrm>
          <a:prstGeom prst="rect">
            <a:avLst/>
          </a:prstGeom>
          <a:noFill/>
          <a:ln/>
        </p:spPr>
        <p:txBody>
          <a:bodyPr wrap="square" lIns="0" tIns="0" rIns="0" bIns="0" rtlCol="0" anchor="t"/>
          <a:lstStyle/>
          <a:p>
            <a:pPr indent="0" marL="0">
              <a:buNone/>
            </a:pPr>
            <a:r>
              <a:rPr lang="en-US" sz="1300" dirty="0">
                <a:solidFill>
                  <a:schemeClr val="tx2"/>
                </a:solidFill>
              </a:rPr>
              <a:t>41 documented assumptions (A-xxx); every engine number is read from it</a:t>
            </a:r>
            <a:endParaRPr lang="en-US" sz="1300" dirty="0"/>
          </a:p>
        </p:txBody>
      </p:sp>
      <p:sp>
        <p:nvSpPr>
          <p:cNvPr id="26" name="Text 24"/>
          <p:cNvSpPr txBox="1"/>
          <p:nvPr/>
        </p:nvSpPr>
        <p:spPr>
          <a:xfrm>
            <a:off x="6583680" y="1508760"/>
            <a:ext cx="50292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Design decisions</a:t>
            </a:r>
            <a:endParaRPr lang="en-US" sz="2000" dirty="0"/>
          </a:p>
        </p:txBody>
      </p:sp>
      <p:sp>
        <p:nvSpPr>
          <p:cNvPr id="27" name="Text 25"/>
          <p:cNvSpPr txBox="1"/>
          <p:nvPr/>
        </p:nvSpPr>
        <p:spPr>
          <a:xfrm>
            <a:off x="6583680" y="1965960"/>
            <a:ext cx="2468880" cy="274320"/>
          </a:xfrm>
          <a:prstGeom prst="rect">
            <a:avLst/>
          </a:prstGeom>
          <a:noFill/>
          <a:ln/>
        </p:spPr>
        <p:txBody>
          <a:bodyPr wrap="square" lIns="0" tIns="0" rIns="0" bIns="0" rtlCol="0" anchor="ctr"/>
          <a:lstStyle/>
          <a:p>
            <a:pPr indent="0" marL="0">
              <a:buNone/>
            </a:pPr>
            <a:r>
              <a:rPr lang="en-US" sz="1200" b="1" dirty="0">
                <a:solidFill>
                  <a:schemeClr val="accent3"/>
                </a:solidFill>
              </a:rPr>
              <a:t>CHOSEN</a:t>
            </a:r>
            <a:endParaRPr lang="en-US" sz="1200" dirty="0"/>
          </a:p>
        </p:txBody>
      </p:sp>
      <p:sp>
        <p:nvSpPr>
          <p:cNvPr id="28" name="Text 26"/>
          <p:cNvSpPr txBox="1"/>
          <p:nvPr/>
        </p:nvSpPr>
        <p:spPr>
          <a:xfrm>
            <a:off x="9235440" y="1965960"/>
            <a:ext cx="2377440" cy="274320"/>
          </a:xfrm>
          <a:prstGeom prst="rect">
            <a:avLst/>
          </a:prstGeom>
          <a:noFill/>
          <a:ln/>
        </p:spPr>
        <p:txBody>
          <a:bodyPr wrap="square" lIns="0" tIns="0" rIns="0" bIns="0" rtlCol="0" anchor="ctr"/>
          <a:lstStyle/>
          <a:p>
            <a:pPr indent="0" marL="0">
              <a:buNone/>
            </a:pPr>
            <a:r>
              <a:rPr lang="en-US" sz="1200" b="1" dirty="0">
                <a:solidFill>
                  <a:schemeClr val="accent4"/>
                </a:solidFill>
              </a:rPr>
              <a:t>REJECTED</a:t>
            </a:r>
            <a:endParaRPr lang="en-US" sz="1200" dirty="0"/>
          </a:p>
        </p:txBody>
      </p:sp>
      <p:sp>
        <p:nvSpPr>
          <p:cNvPr id="29" name="Chosen 1"/>
          <p:cNvSpPr/>
          <p:nvPr/>
        </p:nvSpPr>
        <p:spPr>
          <a:xfrm>
            <a:off x="6583680" y="2286000"/>
            <a:ext cx="2560320" cy="841248"/>
          </a:xfrm>
          <a:prstGeom prst="roundRect">
            <a:avLst>
              <a:gd name="adj" fmla="val 8696"/>
            </a:avLst>
          </a:prstGeom>
          <a:solidFill>
            <a:schemeClr val="bg2"/>
          </a:solidFill>
          <a:ln w="12700">
            <a:solidFill>
              <a:schemeClr val="bg2"/>
            </a:solidFill>
            <a:prstDash val="solid"/>
          </a:ln>
        </p:spPr>
      </p:sp>
      <p:sp>
        <p:nvSpPr>
          <p:cNvPr id="30" name="Text 28"/>
          <p:cNvSpPr txBox="1"/>
          <p:nvPr/>
        </p:nvSpPr>
        <p:spPr>
          <a:xfrm>
            <a:off x="6675120" y="2286000"/>
            <a:ext cx="2377440" cy="841248"/>
          </a:xfrm>
          <a:prstGeom prst="rect">
            <a:avLst/>
          </a:prstGeom>
          <a:noFill/>
          <a:ln/>
        </p:spPr>
        <p:txBody>
          <a:bodyPr wrap="square" lIns="0" tIns="0" rIns="0" bIns="0" rtlCol="0" anchor="ctr"/>
          <a:lstStyle/>
          <a:p>
            <a:pPr indent="0" marL="0">
              <a:buNone/>
            </a:pPr>
            <a:r>
              <a:rPr lang="en-US" sz="1300" dirty="0">
                <a:solidFill>
                  <a:schemeClr val="tx1"/>
                </a:solidFill>
              </a:rPr>
              <a:t>Parametric engine with documented assumptions</a:t>
            </a:r>
            <a:endParaRPr lang="en-US" sz="1300" dirty="0"/>
          </a:p>
        </p:txBody>
      </p:sp>
      <p:sp>
        <p:nvSpPr>
          <p:cNvPr id="31" name="Rejected 1"/>
          <p:cNvSpPr/>
          <p:nvPr/>
        </p:nvSpPr>
        <p:spPr>
          <a:xfrm>
            <a:off x="9235440" y="2286000"/>
            <a:ext cx="2377440" cy="841248"/>
          </a:xfrm>
          <a:prstGeom prst="roundRect">
            <a:avLst>
              <a:gd name="adj" fmla="val 8696"/>
            </a:avLst>
          </a:prstGeom>
          <a:solidFill>
            <a:schemeClr val="accent4">
              <a:alpha val="8000"/>
            </a:schemeClr>
          </a:solidFill>
          <a:ln w="9525">
            <a:solidFill>
              <a:schemeClr val="accent4">
                <a:alpha val="30000"/>
              </a:schemeClr>
            </a:solidFill>
            <a:prstDash val="solid"/>
          </a:ln>
        </p:spPr>
      </p:sp>
      <p:sp>
        <p:nvSpPr>
          <p:cNvPr id="32" name="Text 30"/>
          <p:cNvSpPr txBox="1"/>
          <p:nvPr/>
        </p:nvSpPr>
        <p:spPr>
          <a:xfrm>
            <a:off x="9326880" y="2286000"/>
            <a:ext cx="2194560" cy="841248"/>
          </a:xfrm>
          <a:prstGeom prst="rect">
            <a:avLst/>
          </a:prstGeom>
          <a:noFill/>
          <a:ln/>
        </p:spPr>
        <p:txBody>
          <a:bodyPr wrap="square" lIns="0" tIns="0" rIns="0" bIns="0" rtlCol="0" anchor="ctr"/>
          <a:lstStyle/>
          <a:p>
            <a:pPr indent="0" marL="0">
              <a:buNone/>
            </a:pPr>
            <a:r>
              <a:rPr lang="en-US" sz="1300" dirty="0">
                <a:solidFill>
                  <a:schemeClr val="tx1"/>
                </a:solidFill>
              </a:rPr>
              <a:t>A fitted or ML demand model. Nothing is trained</a:t>
            </a:r>
            <a:endParaRPr lang="en-US" sz="1300" dirty="0"/>
          </a:p>
        </p:txBody>
      </p:sp>
      <p:sp>
        <p:nvSpPr>
          <p:cNvPr id="33" name="Chosen 2"/>
          <p:cNvSpPr/>
          <p:nvPr/>
        </p:nvSpPr>
        <p:spPr>
          <a:xfrm>
            <a:off x="6583680" y="3246120"/>
            <a:ext cx="2560320" cy="841248"/>
          </a:xfrm>
          <a:prstGeom prst="roundRect">
            <a:avLst>
              <a:gd name="adj" fmla="val 8696"/>
            </a:avLst>
          </a:prstGeom>
          <a:solidFill>
            <a:schemeClr val="bg2"/>
          </a:solidFill>
          <a:ln w="12700">
            <a:solidFill>
              <a:schemeClr val="bg2"/>
            </a:solidFill>
            <a:prstDash val="solid"/>
          </a:ln>
        </p:spPr>
      </p:sp>
      <p:sp>
        <p:nvSpPr>
          <p:cNvPr id="34" name="Text 32"/>
          <p:cNvSpPr txBox="1"/>
          <p:nvPr/>
        </p:nvSpPr>
        <p:spPr>
          <a:xfrm>
            <a:off x="6675120" y="3246120"/>
            <a:ext cx="2377440" cy="841248"/>
          </a:xfrm>
          <a:prstGeom prst="rect">
            <a:avLst/>
          </a:prstGeom>
          <a:noFill/>
          <a:ln/>
        </p:spPr>
        <p:txBody>
          <a:bodyPr wrap="square" lIns="0" tIns="0" rIns="0" bIns="0" rtlCol="0" anchor="ctr"/>
          <a:lstStyle/>
          <a:p>
            <a:pPr indent="0" marL="0">
              <a:buNone/>
            </a:pPr>
            <a:r>
              <a:rPr lang="en-US" sz="1300" dirty="0">
                <a:solidFill>
                  <a:schemeClr val="tx1"/>
                </a:solidFill>
              </a:rPr>
              <a:t>Refuse the whole scenario outside supported data</a:t>
            </a:r>
            <a:endParaRPr lang="en-US" sz="1300" dirty="0"/>
          </a:p>
        </p:txBody>
      </p:sp>
      <p:sp>
        <p:nvSpPr>
          <p:cNvPr id="35" name="Rejected 2"/>
          <p:cNvSpPr/>
          <p:nvPr/>
        </p:nvSpPr>
        <p:spPr>
          <a:xfrm>
            <a:off x="9235440" y="3246120"/>
            <a:ext cx="2377440" cy="841248"/>
          </a:xfrm>
          <a:prstGeom prst="roundRect">
            <a:avLst>
              <a:gd name="adj" fmla="val 8696"/>
            </a:avLst>
          </a:prstGeom>
          <a:solidFill>
            <a:schemeClr val="accent4">
              <a:alpha val="8000"/>
            </a:schemeClr>
          </a:solidFill>
          <a:ln w="9525">
            <a:solidFill>
              <a:schemeClr val="accent4">
                <a:alpha val="30000"/>
              </a:schemeClr>
            </a:solidFill>
            <a:prstDash val="solid"/>
          </a:ln>
        </p:spPr>
      </p:sp>
      <p:sp>
        <p:nvSpPr>
          <p:cNvPr id="36" name="Text 34"/>
          <p:cNvSpPr txBox="1"/>
          <p:nvPr/>
        </p:nvSpPr>
        <p:spPr>
          <a:xfrm>
            <a:off x="9326880" y="3246120"/>
            <a:ext cx="2194560" cy="841248"/>
          </a:xfrm>
          <a:prstGeom prst="rect">
            <a:avLst/>
          </a:prstGeom>
          <a:noFill/>
          <a:ln/>
        </p:spPr>
        <p:txBody>
          <a:bodyPr wrap="square" lIns="0" tIns="0" rIns="0" bIns="0" rtlCol="0" anchor="ctr"/>
          <a:lstStyle/>
          <a:p>
            <a:pPr indent="0" marL="0">
              <a:buNone/>
            </a:pPr>
            <a:r>
              <a:rPr lang="en-US" sz="1300" dirty="0">
                <a:solidFill>
                  <a:schemeClr val="tx1"/>
                </a:solidFill>
              </a:rPr>
              <a:t>Clamping, or drawing a confident line through empty space</a:t>
            </a:r>
            <a:endParaRPr lang="en-US" sz="1300" dirty="0"/>
          </a:p>
        </p:txBody>
      </p:sp>
      <p:sp>
        <p:nvSpPr>
          <p:cNvPr id="37" name="Chosen 3"/>
          <p:cNvSpPr/>
          <p:nvPr/>
        </p:nvSpPr>
        <p:spPr>
          <a:xfrm>
            <a:off x="6583680" y="4206240"/>
            <a:ext cx="2560320" cy="841248"/>
          </a:xfrm>
          <a:prstGeom prst="roundRect">
            <a:avLst>
              <a:gd name="adj" fmla="val 8696"/>
            </a:avLst>
          </a:prstGeom>
          <a:solidFill>
            <a:schemeClr val="bg2"/>
          </a:solidFill>
          <a:ln w="12700">
            <a:solidFill>
              <a:schemeClr val="bg2"/>
            </a:solidFill>
            <a:prstDash val="solid"/>
          </a:ln>
        </p:spPr>
      </p:sp>
      <p:sp>
        <p:nvSpPr>
          <p:cNvPr id="38" name="Text 36"/>
          <p:cNvSpPr txBox="1"/>
          <p:nvPr/>
        </p:nvSpPr>
        <p:spPr>
          <a:xfrm>
            <a:off x="6675120" y="4206240"/>
            <a:ext cx="2377440" cy="841248"/>
          </a:xfrm>
          <a:prstGeom prst="rect">
            <a:avLst/>
          </a:prstGeom>
          <a:noFill/>
          <a:ln/>
        </p:spPr>
        <p:txBody>
          <a:bodyPr wrap="square" lIns="0" tIns="0" rIns="0" bIns="0" rtlCol="0" anchor="ctr"/>
          <a:lstStyle/>
          <a:p>
            <a:pPr indent="0" marL="0">
              <a:buNone/>
            </a:pPr>
            <a:r>
              <a:rPr lang="en-US" sz="1300" dirty="0">
                <a:solidFill>
                  <a:schemeClr val="tx1"/>
                </a:solidFill>
              </a:rPr>
              <a:t>Agent calls typed tools; every number traces to a result</a:t>
            </a:r>
            <a:endParaRPr lang="en-US" sz="1300" dirty="0"/>
          </a:p>
        </p:txBody>
      </p:sp>
      <p:sp>
        <p:nvSpPr>
          <p:cNvPr id="39" name="Rejected 3"/>
          <p:cNvSpPr/>
          <p:nvPr/>
        </p:nvSpPr>
        <p:spPr>
          <a:xfrm>
            <a:off x="9235440" y="4206240"/>
            <a:ext cx="2377440" cy="841248"/>
          </a:xfrm>
          <a:prstGeom prst="roundRect">
            <a:avLst>
              <a:gd name="adj" fmla="val 8696"/>
            </a:avLst>
          </a:prstGeom>
          <a:solidFill>
            <a:schemeClr val="accent4">
              <a:alpha val="8000"/>
            </a:schemeClr>
          </a:solidFill>
          <a:ln w="9525">
            <a:solidFill>
              <a:schemeClr val="accent4">
                <a:alpha val="30000"/>
              </a:schemeClr>
            </a:solidFill>
            <a:prstDash val="solid"/>
          </a:ln>
        </p:spPr>
      </p:sp>
      <p:sp>
        <p:nvSpPr>
          <p:cNvPr id="40" name="Text 38"/>
          <p:cNvSpPr txBox="1"/>
          <p:nvPr/>
        </p:nvSpPr>
        <p:spPr>
          <a:xfrm>
            <a:off x="9326880" y="4206240"/>
            <a:ext cx="2194560" cy="841248"/>
          </a:xfrm>
          <a:prstGeom prst="rect">
            <a:avLst/>
          </a:prstGeom>
          <a:noFill/>
          <a:ln/>
        </p:spPr>
        <p:txBody>
          <a:bodyPr wrap="square" lIns="0" tIns="0" rIns="0" bIns="0" rtlCol="0" anchor="ctr"/>
          <a:lstStyle/>
          <a:p>
            <a:pPr indent="0" marL="0">
              <a:buNone/>
            </a:pPr>
            <a:r>
              <a:rPr lang="en-US" sz="1300" dirty="0">
                <a:solidFill>
                  <a:schemeClr val="tx1"/>
                </a:solidFill>
              </a:rPr>
              <a:t>Letting the model do or round its own arithmetic</a:t>
            </a:r>
            <a:endParaRPr lang="en-US" sz="1300" dirty="0"/>
          </a:p>
        </p:txBody>
      </p:sp>
      <p:sp>
        <p:nvSpPr>
          <p:cNvPr id="41" name="Chosen 4"/>
          <p:cNvSpPr/>
          <p:nvPr/>
        </p:nvSpPr>
        <p:spPr>
          <a:xfrm>
            <a:off x="6583680" y="5166360"/>
            <a:ext cx="2560320" cy="841248"/>
          </a:xfrm>
          <a:prstGeom prst="roundRect">
            <a:avLst>
              <a:gd name="adj" fmla="val 8696"/>
            </a:avLst>
          </a:prstGeom>
          <a:solidFill>
            <a:schemeClr val="bg2"/>
          </a:solidFill>
          <a:ln w="12700">
            <a:solidFill>
              <a:schemeClr val="bg2"/>
            </a:solidFill>
            <a:prstDash val="solid"/>
          </a:ln>
        </p:spPr>
      </p:sp>
      <p:sp>
        <p:nvSpPr>
          <p:cNvPr id="42" name="Text 40"/>
          <p:cNvSpPr txBox="1"/>
          <p:nvPr/>
        </p:nvSpPr>
        <p:spPr>
          <a:xfrm>
            <a:off x="6675120" y="5166360"/>
            <a:ext cx="2377440" cy="841248"/>
          </a:xfrm>
          <a:prstGeom prst="rect">
            <a:avLst/>
          </a:prstGeom>
          <a:noFill/>
          <a:ln/>
        </p:spPr>
        <p:txBody>
          <a:bodyPr wrap="square" lIns="0" tIns="0" rIns="0" bIns="0" rtlCol="0" anchor="ctr"/>
          <a:lstStyle/>
          <a:p>
            <a:pPr indent="0" marL="0">
              <a:buNone/>
            </a:pPr>
            <a:r>
              <a:rPr lang="en-US" sz="1300" dirty="0">
                <a:solidFill>
                  <a:schemeClr val="tx1"/>
                </a:solidFill>
              </a:rPr>
              <a:t>Seeded generator; the LLM designs personas</a:t>
            </a:r>
            <a:endParaRPr lang="en-US" sz="1300" dirty="0"/>
          </a:p>
        </p:txBody>
      </p:sp>
      <p:sp>
        <p:nvSpPr>
          <p:cNvPr id="43" name="Rejected 4"/>
          <p:cNvSpPr/>
          <p:nvPr/>
        </p:nvSpPr>
        <p:spPr>
          <a:xfrm>
            <a:off x="9235440" y="5166360"/>
            <a:ext cx="2377440" cy="841248"/>
          </a:xfrm>
          <a:prstGeom prst="roundRect">
            <a:avLst>
              <a:gd name="adj" fmla="val 8696"/>
            </a:avLst>
          </a:prstGeom>
          <a:solidFill>
            <a:schemeClr val="accent4">
              <a:alpha val="8000"/>
            </a:schemeClr>
          </a:solidFill>
          <a:ln w="9525">
            <a:solidFill>
              <a:schemeClr val="accent4">
                <a:alpha val="30000"/>
              </a:schemeClr>
            </a:solidFill>
            <a:prstDash val="solid"/>
          </a:ln>
        </p:spPr>
      </p:sp>
      <p:sp>
        <p:nvSpPr>
          <p:cNvPr id="44" name="Text 42"/>
          <p:cNvSpPr txBox="1"/>
          <p:nvPr/>
        </p:nvSpPr>
        <p:spPr>
          <a:xfrm>
            <a:off x="9326880" y="5166360"/>
            <a:ext cx="2194560" cy="841248"/>
          </a:xfrm>
          <a:prstGeom prst="rect">
            <a:avLst/>
          </a:prstGeom>
          <a:noFill/>
          <a:ln/>
        </p:spPr>
        <p:txBody>
          <a:bodyPr wrap="square" lIns="0" tIns="0" rIns="0" bIns="0" rtlCol="0" anchor="ctr"/>
          <a:lstStyle/>
          <a:p>
            <a:pPr indent="0" marL="0">
              <a:buNone/>
            </a:pPr>
            <a:r>
              <a:rPr lang="en-US" sz="1300" dirty="0">
                <a:solidFill>
                  <a:schemeClr val="tx1"/>
                </a:solidFill>
              </a:rPr>
              <a:t>LLM-written data rows presented as evidence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lIns="0" tIns="0" rIns="0" bIns="0" rtlCol="0" anchor="t"/>
          <a:lstStyle/>
          <a:p>
            <a:pPr algn="l" indent="0" marL="0">
              <a:buNone/>
            </a:pPr>
            <a:r>
              <a:rPr lang="en-US" sz="3200" b="1" dirty="0">
                <a:solidFill>
                  <a:schemeClr val="tx1"/>
                </a:solidFill>
              </a:rPr>
              <a:t>Specified first, built in gated phases with the agent, and reviewed at every step</a:t>
            </a:r>
            <a:endParaRPr lang="en-US" sz="3200" dirty="0"/>
          </a:p>
        </p:txBody>
      </p:sp>
      <p:sp>
        <p:nvSpPr>
          <p:cNvPr id="3" name="Step 1"/>
          <p:cNvSpPr/>
          <p:nvPr/>
        </p:nvSpPr>
        <p:spPr>
          <a:xfrm>
            <a:off x="548640" y="1737360"/>
            <a:ext cx="2103120" cy="2377440"/>
          </a:xfrm>
          <a:prstGeom prst="roundRect">
            <a:avLst>
              <a:gd name="adj" fmla="val 434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tep marker 1"/>
          <p:cNvSpPr/>
          <p:nvPr/>
        </p:nvSpPr>
        <p:spPr>
          <a:xfrm>
            <a:off x="731520" y="192024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31520" y="2560320"/>
            <a:ext cx="17830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Specify</a:t>
            </a:r>
            <a:endParaRPr lang="en-US" sz="1800" dirty="0"/>
          </a:p>
        </p:txBody>
      </p:sp>
      <p:sp>
        <p:nvSpPr>
          <p:cNvPr id="7" name="Text 5"/>
          <p:cNvSpPr txBox="1"/>
          <p:nvPr/>
        </p:nvSpPr>
        <p:spPr>
          <a:xfrm>
            <a:off x="731520" y="2971800"/>
            <a:ext cx="1783080" cy="1097280"/>
          </a:xfrm>
          <a:prstGeom prst="rect">
            <a:avLst/>
          </a:prstGeom>
          <a:noFill/>
          <a:ln/>
        </p:spPr>
        <p:txBody>
          <a:bodyPr wrap="square" lIns="0" tIns="0" rIns="0" bIns="0" rtlCol="0" anchor="t"/>
          <a:lstStyle/>
          <a:p>
            <a:pPr indent="0" marL="0">
              <a:buNone/>
            </a:pPr>
            <a:r>
              <a:rPr lang="en-US" sz="1400" dirty="0">
                <a:solidFill>
                  <a:schemeClr val="tx2"/>
                </a:solidFill>
              </a:rPr>
              <a:t>BRD with testable AC‑xxx criteria, solution design and ADRs before code</a:t>
            </a:r>
            <a:endParaRPr lang="en-US" sz="1400" dirty="0"/>
          </a:p>
        </p:txBody>
      </p:sp>
      <p:sp>
        <p:nvSpPr>
          <p:cNvPr id="8" name="Step 2"/>
          <p:cNvSpPr/>
          <p:nvPr/>
        </p:nvSpPr>
        <p:spPr>
          <a:xfrm>
            <a:off x="2788920" y="1737360"/>
            <a:ext cx="2103120" cy="2377440"/>
          </a:xfrm>
          <a:prstGeom prst="roundRect">
            <a:avLst>
              <a:gd name="adj" fmla="val 434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Step marker 2"/>
          <p:cNvSpPr/>
          <p:nvPr/>
        </p:nvSpPr>
        <p:spPr>
          <a:xfrm>
            <a:off x="2971800" y="192024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297180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2971800" y="2560320"/>
            <a:ext cx="17830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Plan</a:t>
            </a:r>
            <a:endParaRPr lang="en-US" sz="1800" dirty="0"/>
          </a:p>
        </p:txBody>
      </p:sp>
      <p:sp>
        <p:nvSpPr>
          <p:cNvPr id="12" name="Text 10"/>
          <p:cNvSpPr txBox="1"/>
          <p:nvPr/>
        </p:nvSpPr>
        <p:spPr>
          <a:xfrm>
            <a:off x="2971800" y="2971800"/>
            <a:ext cx="1783080" cy="1097280"/>
          </a:xfrm>
          <a:prstGeom prst="rect">
            <a:avLst/>
          </a:prstGeom>
          <a:noFill/>
          <a:ln/>
        </p:spPr>
        <p:txBody>
          <a:bodyPr wrap="square" lIns="0" tIns="0" rIns="0" bIns="0" rtlCol="0" anchor="t"/>
          <a:lstStyle/>
          <a:p>
            <a:pPr indent="0" marL="0">
              <a:buNone/>
            </a:pPr>
            <a:r>
              <a:rPr lang="en-US" sz="1400" dirty="0">
                <a:solidFill>
                  <a:schemeClr val="tx2"/>
                </a:solidFill>
              </a:rPr>
              <a:t>Phased task list. A phase starts only after the previous acceptance check passes</a:t>
            </a:r>
            <a:endParaRPr lang="en-US" sz="1400" dirty="0"/>
          </a:p>
        </p:txBody>
      </p:sp>
      <p:sp>
        <p:nvSpPr>
          <p:cNvPr id="13" name="Step 3"/>
          <p:cNvSpPr/>
          <p:nvPr/>
        </p:nvSpPr>
        <p:spPr>
          <a:xfrm>
            <a:off x="5029200" y="1737360"/>
            <a:ext cx="2103120" cy="2377440"/>
          </a:xfrm>
          <a:prstGeom prst="roundRect">
            <a:avLst>
              <a:gd name="adj" fmla="val 434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Step marker 3"/>
          <p:cNvSpPr/>
          <p:nvPr/>
        </p:nvSpPr>
        <p:spPr>
          <a:xfrm>
            <a:off x="5212080" y="192024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521208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5212080" y="2560320"/>
            <a:ext cx="17830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Drive the agent</a:t>
            </a:r>
            <a:endParaRPr lang="en-US" sz="1800" dirty="0"/>
          </a:p>
        </p:txBody>
      </p:sp>
      <p:sp>
        <p:nvSpPr>
          <p:cNvPr id="17" name="Text 15"/>
          <p:cNvSpPr txBox="1"/>
          <p:nvPr/>
        </p:nvSpPr>
        <p:spPr>
          <a:xfrm>
            <a:off x="5212080" y="2971800"/>
            <a:ext cx="1783080" cy="1097280"/>
          </a:xfrm>
          <a:prstGeom prst="rect">
            <a:avLst/>
          </a:prstGeom>
          <a:noFill/>
          <a:ln/>
        </p:spPr>
        <p:txBody>
          <a:bodyPr wrap="square" lIns="0" tIns="0" rIns="0" bIns="0" rtlCol="0" anchor="t"/>
          <a:lstStyle/>
          <a:p>
            <a:pPr indent="0" marL="0">
              <a:buNone/>
            </a:pPr>
            <a:r>
              <a:rPr lang="en-US" sz="1400" dirty="0">
                <a:solidFill>
                  <a:schemeClr val="tx2"/>
                </a:solidFill>
              </a:rPr>
              <a:t>CLAUDE.md rules, hooks that block destructive commands, library docs fetched not guessed</a:t>
            </a:r>
            <a:endParaRPr lang="en-US" sz="1400" dirty="0"/>
          </a:p>
        </p:txBody>
      </p:sp>
      <p:sp>
        <p:nvSpPr>
          <p:cNvPr id="18" name="Step 4"/>
          <p:cNvSpPr/>
          <p:nvPr/>
        </p:nvSpPr>
        <p:spPr>
          <a:xfrm>
            <a:off x="7269480" y="1737360"/>
            <a:ext cx="2103120" cy="2377440"/>
          </a:xfrm>
          <a:prstGeom prst="roundRect">
            <a:avLst>
              <a:gd name="adj" fmla="val 434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Step marker 4"/>
          <p:cNvSpPr/>
          <p:nvPr/>
        </p:nvSpPr>
        <p:spPr>
          <a:xfrm>
            <a:off x="7452360" y="192024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745236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7452360" y="2560320"/>
            <a:ext cx="17830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Review</a:t>
            </a:r>
            <a:endParaRPr lang="en-US" sz="1800" dirty="0"/>
          </a:p>
        </p:txBody>
      </p:sp>
      <p:sp>
        <p:nvSpPr>
          <p:cNvPr id="22" name="Text 20"/>
          <p:cNvSpPr txBox="1"/>
          <p:nvPr/>
        </p:nvSpPr>
        <p:spPr>
          <a:xfrm>
            <a:off x="7452360" y="2971800"/>
            <a:ext cx="1783080" cy="1097280"/>
          </a:xfrm>
          <a:prstGeom prst="rect">
            <a:avLst/>
          </a:prstGeom>
          <a:noFill/>
          <a:ln/>
        </p:spPr>
        <p:txBody>
          <a:bodyPr wrap="square" lIns="0" tIns="0" rIns="0" bIns="0" rtlCol="0" anchor="t"/>
          <a:lstStyle/>
          <a:p>
            <a:pPr indent="0" marL="0">
              <a:buNone/>
            </a:pPr>
            <a:r>
              <a:rPr lang="en-US" sz="1400" dirty="0">
                <a:solidFill>
                  <a:schemeClr val="tx2"/>
                </a:solidFill>
              </a:rPr>
              <a:t>Every change set logged. The owner must explain every merged line without the agent</a:t>
            </a:r>
            <a:endParaRPr lang="en-US" sz="1400" dirty="0"/>
          </a:p>
        </p:txBody>
      </p:sp>
      <p:sp>
        <p:nvSpPr>
          <p:cNvPr id="23" name="Step 5"/>
          <p:cNvSpPr/>
          <p:nvPr/>
        </p:nvSpPr>
        <p:spPr>
          <a:xfrm>
            <a:off x="9509760" y="1737360"/>
            <a:ext cx="2103120" cy="2377440"/>
          </a:xfrm>
          <a:prstGeom prst="roundRect">
            <a:avLst>
              <a:gd name="adj" fmla="val 434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Step marker 5"/>
          <p:cNvSpPr/>
          <p:nvPr/>
        </p:nvSpPr>
        <p:spPr>
          <a:xfrm>
            <a:off x="9692640" y="192024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969264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9692640" y="2560320"/>
            <a:ext cx="17830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Gate</a:t>
            </a:r>
            <a:endParaRPr lang="en-US" sz="1800" dirty="0"/>
          </a:p>
        </p:txBody>
      </p:sp>
      <p:sp>
        <p:nvSpPr>
          <p:cNvPr id="27" name="Text 25"/>
          <p:cNvSpPr txBox="1"/>
          <p:nvPr/>
        </p:nvSpPr>
        <p:spPr>
          <a:xfrm>
            <a:off x="9692640" y="2971800"/>
            <a:ext cx="1783080" cy="1097280"/>
          </a:xfrm>
          <a:prstGeom prst="rect">
            <a:avLst/>
          </a:prstGeom>
          <a:noFill/>
          <a:ln/>
        </p:spPr>
        <p:txBody>
          <a:bodyPr wrap="square" lIns="0" tIns="0" rIns="0" bIns="0" rtlCol="0" anchor="t"/>
          <a:lstStyle/>
          <a:p>
            <a:pPr indent="0" marL="0">
              <a:buNone/>
            </a:pPr>
            <a:r>
              <a:rPr lang="en-US" sz="1400" dirty="0">
                <a:solidFill>
                  <a:schemeClr val="tx2"/>
                </a:solidFill>
              </a:rPr>
              <a:t>CI runs tests, benchmarks, agent evals, AC traceability and security scans</a:t>
            </a:r>
            <a:endParaRPr lang="en-US" sz="1400" dirty="0"/>
          </a:p>
        </p:txBody>
      </p:sp>
      <p:sp>
        <p:nvSpPr>
          <p:cNvPr id="28" name="Text 26"/>
          <p:cNvSpPr txBox="1"/>
          <p:nvPr/>
        </p:nvSpPr>
        <p:spPr>
          <a:xfrm>
            <a:off x="548640" y="4480560"/>
            <a:ext cx="54864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How the output was reviewed</a:t>
            </a:r>
            <a:endParaRPr lang="en-US" sz="2000" dirty="0"/>
          </a:p>
        </p:txBody>
      </p:sp>
      <p:sp>
        <p:nvSpPr>
          <p:cNvPr id="29" name="Text 27"/>
          <p:cNvSpPr txBox="1"/>
          <p:nvPr/>
        </p:nvSpPr>
        <p:spPr>
          <a:xfrm>
            <a:off x="548640" y="4983480"/>
            <a:ext cx="2606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296</a:t>
            </a:r>
            <a:endParaRPr lang="en-US" sz="2800" dirty="0"/>
          </a:p>
        </p:txBody>
      </p:sp>
      <p:sp>
        <p:nvSpPr>
          <p:cNvPr id="30" name="Text 28"/>
          <p:cNvSpPr txBox="1"/>
          <p:nvPr/>
        </p:nvSpPr>
        <p:spPr>
          <a:xfrm>
            <a:off x="548640" y="5532120"/>
            <a:ext cx="2606040" cy="594360"/>
          </a:xfrm>
          <a:prstGeom prst="rect">
            <a:avLst/>
          </a:prstGeom>
          <a:noFill/>
          <a:ln/>
        </p:spPr>
        <p:txBody>
          <a:bodyPr wrap="square" lIns="0" tIns="0" rIns="0" bIns="0" rtlCol="0" anchor="t"/>
          <a:lstStyle/>
          <a:p>
            <a:pPr indent="0" marL="0">
              <a:buNone/>
            </a:pPr>
            <a:r>
              <a:rPr lang="en-US" sz="1400" dirty="0">
                <a:solidFill>
                  <a:schemeClr val="tx2"/>
                </a:solidFill>
              </a:rPr>
              <a:t>automated tests, each AC mapped to a named test</a:t>
            </a:r>
            <a:endParaRPr lang="en-US" sz="1400" dirty="0"/>
          </a:p>
        </p:txBody>
      </p:sp>
      <p:sp>
        <p:nvSpPr>
          <p:cNvPr id="31" name="Text 29"/>
          <p:cNvSpPr txBox="1"/>
          <p:nvPr/>
        </p:nvSpPr>
        <p:spPr>
          <a:xfrm>
            <a:off x="3337560" y="4983480"/>
            <a:ext cx="2606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Auditor</a:t>
            </a:r>
            <a:endParaRPr lang="en-US" sz="2800" dirty="0"/>
          </a:p>
        </p:txBody>
      </p:sp>
      <p:sp>
        <p:nvSpPr>
          <p:cNvPr id="32" name="Text 30"/>
          <p:cNvSpPr txBox="1"/>
          <p:nvPr/>
        </p:nvSpPr>
        <p:spPr>
          <a:xfrm>
            <a:off x="3337560" y="5532120"/>
            <a:ext cx="2606040" cy="594360"/>
          </a:xfrm>
          <a:prstGeom prst="rect">
            <a:avLst/>
          </a:prstGeom>
          <a:noFill/>
          <a:ln/>
        </p:spPr>
        <p:txBody>
          <a:bodyPr wrap="square" lIns="0" tIns="0" rIns="0" bIns="0" rtlCol="0" anchor="t"/>
          <a:lstStyle/>
          <a:p>
            <a:pPr indent="0" marL="0">
              <a:buNone/>
            </a:pPr>
            <a:r>
              <a:rPr lang="en-US" sz="1400" dirty="0">
                <a:solidFill>
                  <a:schemeClr val="tx2"/>
                </a:solidFill>
              </a:rPr>
              <a:t>blocks any number that is not in a tool result</a:t>
            </a:r>
            <a:endParaRPr lang="en-US" sz="1400" dirty="0"/>
          </a:p>
        </p:txBody>
      </p:sp>
      <p:sp>
        <p:nvSpPr>
          <p:cNvPr id="33" name="Text 31"/>
          <p:cNvSpPr txBox="1"/>
          <p:nvPr/>
        </p:nvSpPr>
        <p:spPr>
          <a:xfrm>
            <a:off x="6126480" y="4983480"/>
            <a:ext cx="2606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25</a:t>
            </a:r>
            <a:endParaRPr lang="en-US" sz="2800" dirty="0"/>
          </a:p>
        </p:txBody>
      </p:sp>
      <p:sp>
        <p:nvSpPr>
          <p:cNvPr id="34" name="Text 32"/>
          <p:cNvSpPr txBox="1"/>
          <p:nvPr/>
        </p:nvSpPr>
        <p:spPr>
          <a:xfrm>
            <a:off x="6126480" y="5532120"/>
            <a:ext cx="2606040" cy="594360"/>
          </a:xfrm>
          <a:prstGeom prst="rect">
            <a:avLst/>
          </a:prstGeom>
          <a:noFill/>
          <a:ln/>
        </p:spPr>
        <p:txBody>
          <a:bodyPr wrap="square" lIns="0" tIns="0" rIns="0" bIns="0" rtlCol="0" anchor="t"/>
          <a:lstStyle/>
          <a:p>
            <a:pPr indent="0" marL="0">
              <a:buNone/>
            </a:pPr>
            <a:r>
              <a:rPr lang="en-US" sz="1400" dirty="0">
                <a:solidFill>
                  <a:schemeClr val="tx2"/>
                </a:solidFill>
              </a:rPr>
              <a:t>defects logged with root cause and fix</a:t>
            </a:r>
            <a:endParaRPr lang="en-US" sz="1400" dirty="0"/>
          </a:p>
        </p:txBody>
      </p:sp>
      <p:sp>
        <p:nvSpPr>
          <p:cNvPr id="35" name="Text 33"/>
          <p:cNvSpPr txBox="1"/>
          <p:nvPr/>
        </p:nvSpPr>
        <p:spPr>
          <a:xfrm>
            <a:off x="8915400" y="4983480"/>
            <a:ext cx="2606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 per change</a:t>
            </a:r>
            <a:endParaRPr lang="en-US" sz="2800" dirty="0"/>
          </a:p>
        </p:txBody>
      </p:sp>
      <p:sp>
        <p:nvSpPr>
          <p:cNvPr id="36" name="Text 34"/>
          <p:cNvSpPr txBox="1"/>
          <p:nvPr/>
        </p:nvSpPr>
        <p:spPr>
          <a:xfrm>
            <a:off x="8915400" y="5532120"/>
            <a:ext cx="2606040" cy="594360"/>
          </a:xfrm>
          <a:prstGeom prst="rect">
            <a:avLst/>
          </a:prstGeom>
          <a:noFill/>
          <a:ln/>
        </p:spPr>
        <p:txBody>
          <a:bodyPr wrap="square" lIns="0" tIns="0" rIns="0" bIns="0" rtlCol="0" anchor="t"/>
          <a:lstStyle/>
          <a:p>
            <a:pPr indent="0" marL="0">
              <a:buNone/>
            </a:pPr>
            <a:r>
              <a:rPr lang="en-US" sz="1400" dirty="0">
                <a:solidFill>
                  <a:schemeClr val="tx2"/>
                </a:solidFill>
              </a:rPr>
              <a:t>REVIEW_LOG entry for every agent change set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lIns="0" tIns="0" rIns="0" bIns="0" rtlCol="0" anchor="t"/>
          <a:lstStyle/>
          <a:p>
            <a:pPr algn="l" indent="0" marL="0">
              <a:buNone/>
            </a:pPr>
            <a:r>
              <a:rPr lang="en-US" sz="3200" b="1" dirty="0">
                <a:solidFill>
                  <a:schemeClr val="tx1"/>
                </a:solidFill>
              </a:rPr>
              <a:t>What we tried, what failed, and what changed</a:t>
            </a:r>
            <a:endParaRPr lang="en-US" sz="3200" dirty="0"/>
          </a:p>
        </p:txBody>
      </p:sp>
      <p:graphicFrame>
        <p:nvGraphicFramePr>
          <p:cNvPr id="5" name="Experiment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017520"/>
                <a:gridCol w="4206240"/>
                <a:gridCol w="3840480"/>
              </a:tblGrid>
              <a:tr h="411480">
                <a:tc>
                  <a:txBody>
                    <a:bodyPr/>
                    <a:lstStyle/>
                    <a:p>
                      <a:pPr indent="0" marL="0">
                        <a:buNone/>
                      </a:pPr>
                      <a:r>
                        <a:rPr lang="en-US" sz="1400" b="1" dirty="0">
                          <a:solidFill>
                            <a:schemeClr val="bg1"/>
                          </a:solidFill>
                        </a:rPr>
                        <a:t>What we tried</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went wrong</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changed</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accent1"/>
                    </a:solidFill>
                  </a:tcPr>
                </a:tc>
              </a:tr>
              <a:tr h="804672">
                <a:tc>
                  <a:txBody>
                    <a:bodyPr/>
                    <a:lstStyle/>
                    <a:p>
                      <a:pPr indent="0" marL="0">
                        <a:buNone/>
                      </a:pPr>
                      <a:r>
                        <a:rPr lang="en-US" sz="1400" b="1" dirty="0">
                          <a:solidFill>
                            <a:schemeClr val="tx1"/>
                          </a:solidFill>
                        </a:rPr>
                        <a:t>Speed benchmark on 13 repeated scenarios</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duplicate shortcut made it pass. Distinct scenarios failed the budget</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Benchmark uses distinct scenarios; failure reported, budget unchanged</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r>
              <a:tr h="804672">
                <a:tc>
                  <a:txBody>
                    <a:bodyPr/>
                    <a:lstStyle/>
                    <a:p>
                      <a:pPr indent="0" marL="0">
                        <a:buNone/>
                      </a:pPr>
                      <a:r>
                        <a:rPr lang="en-US" sz="1400" b="1" dirty="0">
                          <a:solidFill>
                            <a:schemeClr val="tx1"/>
                          </a:solidFill>
                        </a:rPr>
                        <a:t>Agent narrative quoting scenario names</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Stray digits failed grounding and injected text reached the output</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Names never appear in prose; they stay in the trace only</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r>
              <a:tr h="804672">
                <a:tc>
                  <a:txBody>
                    <a:bodyPr/>
                    <a:lstStyle/>
                    <a:p>
                      <a:pPr indent="0" marL="0">
                        <a:buNone/>
                      </a:pPr>
                      <a:r>
                        <a:rPr lang="en-US" sz="1400" b="1" dirty="0">
                          <a:solidFill>
                            <a:schemeClr val="tx1"/>
                          </a:solidFill>
                        </a:rPr>
                        <a:t>“Portfolio” profit across all brands</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Counted competitors’ profit as the user’s own</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Focal-brand totals; competitors appear through cross-price effects only</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r>
              <a:tr h="804672">
                <a:tc>
                  <a:txBody>
                    <a:bodyPr/>
                    <a:lstStyle/>
                    <a:p>
                      <a:pPr indent="0" marL="0">
                        <a:buNone/>
                      </a:pPr>
                      <a:r>
                        <a:rPr lang="en-US" sz="1400" b="1" dirty="0">
                          <a:solidFill>
                            <a:schemeClr val="tx1"/>
                          </a:solidFill>
                        </a:rPr>
                        <a:t>First sensitivity reference scenario</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Price index 1.0 zeroes every term, so all assumptions showed no effect</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Stress reference scenario; ranking stable across seeds</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r>
              <a:tr h="804672">
                <a:tc>
                  <a:txBody>
                    <a:bodyPr/>
                    <a:lstStyle/>
                    <a:p>
                      <a:pPr indent="0" marL="0">
                        <a:buNone/>
                      </a:pPr>
                      <a:r>
                        <a:rPr lang="en-US" sz="1400" b="1" dirty="0">
                          <a:solidFill>
                            <a:schemeClr val="tx1"/>
                          </a:solidFill>
                        </a:rPr>
                        <a:t>Growing the catalog from 12 to 20 SKUs</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rounding edge broke the declared data gap</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Gap enforced on the rounded price; data regenerated</a:t>
                      </a:r>
                      <a:endParaRPr lang="en-US" sz="1400" dirty="0"/>
                    </a:p>
                  </a:txBody>
                  <a:tcPr marL="109728" marR="109728" marT="45720" marB="45720" anchor="ctr">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lIns="0" tIns="0" rIns="0" bIns="0" rtlCol="0" anchor="t"/>
          <a:lstStyle/>
          <a:p>
            <a:pPr algn="l" indent="0" marL="0">
              <a:buNone/>
            </a:pPr>
            <a:r>
              <a:rPr lang="en-US" sz="3200" b="1" dirty="0">
                <a:solidFill>
                  <a:schemeClr val="tx1"/>
                </a:solidFill>
              </a:rPr>
              <a:t>Agent integrity meets every budget; engine speed misses it beyond one scenario</a:t>
            </a:r>
            <a:endParaRPr lang="en-US" sz="3200" dirty="0"/>
          </a:p>
        </p:txBody>
      </p:sp>
      <p:sp>
        <p:nvSpPr>
          <p:cNvPr id="3" name="Text 1"/>
          <p:cNvSpPr txBox="1"/>
          <p:nvPr/>
        </p:nvSpPr>
        <p:spPr>
          <a:xfrm>
            <a:off x="548640" y="1508760"/>
            <a:ext cx="54864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Agent integrity (43 tasks, scripted model)</a:t>
            </a:r>
            <a:endParaRPr lang="en-US" sz="1800" dirty="0"/>
          </a:p>
        </p:txBody>
      </p:sp>
      <p:graphicFrame>
        <p:nvGraphicFramePr>
          <p:cNvPr id="6" name="Agent scorecard"/>
          <p:cNvGraphicFramePr>
            <a:graphicFrameLocks noGrp="1"/>
          </p:cNvGraphicFramePr>
          <p:nvPr>
            <p:extLst>
              <p:ext uri="{D42A27DB-BD31-4B8C-83A1-F6EECF244321}">
                <p14:modId xmlns:p14="http://schemas.microsoft.com/office/powerpoint/2010/main" val="1579011935"/>
              </p:ext>
            </p:extLst>
          </p:nvPr>
        </p:nvGraphicFramePr>
        <p:xfrm>
          <a:off x="548640" y="1920240"/>
          <a:ext cx="5120640" cy="914400"/>
        </p:xfrm>
        <a:graphic>
          <a:graphicData uri="http://schemas.openxmlformats.org/drawingml/2006/table">
            <a:tbl>
              <a:tblPr/>
              <a:tblGrid>
                <a:gridCol w="2743200"/>
                <a:gridCol w="1188720"/>
                <a:gridCol w="1188720"/>
              </a:tblGrid>
              <a:tr h="384048">
                <a:tc>
                  <a:txBody>
                    <a:bodyPr/>
                    <a:lstStyle/>
                    <a:p>
                      <a:pPr algn="l" indent="0" marL="0">
                        <a:buNone/>
                      </a:pPr>
                      <a:r>
                        <a:rPr lang="en-US" sz="1300" b="1" dirty="0">
                          <a:solidFill>
                            <a:schemeClr val="tx2"/>
                          </a:solidFill>
                        </a:rPr>
                        <a:t>Metric</a:t>
                      </a:r>
                      <a:endParaRPr lang="en-US" sz="13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2"/>
                          </a:solidFill>
                        </a:rPr>
                        <a:t>Result</a:t>
                      </a:r>
                      <a:endParaRPr lang="en-US" sz="13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2"/>
                          </a:solidFill>
                        </a:rPr>
                        <a:t>Target</a:t>
                      </a:r>
                      <a:endParaRPr lang="en-US" sz="13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Numeric grounding</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b="1" dirty="0">
                          <a:solidFill>
                            <a:schemeClr val="accent3"/>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dirty="0">
                          <a:solidFill>
                            <a:schemeClr val="tx2"/>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r>
              <a:tr h="384048">
                <a:tc>
                  <a:txBody>
                    <a:bodyPr/>
                    <a:lstStyle/>
                    <a:p>
                      <a:pPr indent="0" marL="0">
                        <a:buNone/>
                      </a:pPr>
                      <a:r>
                        <a:rPr lang="en-US" sz="1400" dirty="0">
                          <a:solidFill>
                            <a:schemeClr val="tx1"/>
                          </a:solidFill>
                        </a:rPr>
                        <a:t>Refusal integrity</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b="1" dirty="0">
                          <a:solidFill>
                            <a:schemeClr val="accent3"/>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dirty="0">
                          <a:solidFill>
                            <a:schemeClr val="tx2"/>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r>
              <a:tr h="384048">
                <a:tc>
                  <a:txBody>
                    <a:bodyPr/>
                    <a:lstStyle/>
                    <a:p>
                      <a:pPr indent="0" marL="0">
                        <a:buNone/>
                      </a:pPr>
                      <a:r>
                        <a:rPr lang="en-US" sz="1400" dirty="0">
                          <a:solidFill>
                            <a:schemeClr val="tx1"/>
                          </a:solidFill>
                        </a:rPr>
                        <a:t>Injection resistance</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b="1" dirty="0">
                          <a:solidFill>
                            <a:schemeClr val="accent3"/>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dirty="0">
                          <a:solidFill>
                            <a:schemeClr val="tx2"/>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r>
              <a:tr h="384048">
                <a:tc>
                  <a:txBody>
                    <a:bodyPr/>
                    <a:lstStyle/>
                    <a:p>
                      <a:pPr indent="0" marL="0">
                        <a:buNone/>
                      </a:pPr>
                      <a:r>
                        <a:rPr lang="en-US" sz="1400" dirty="0">
                          <a:solidFill>
                            <a:schemeClr val="tx1"/>
                          </a:solidFill>
                        </a:rPr>
                        <a:t>Label correctness</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b="1" dirty="0">
                          <a:solidFill>
                            <a:schemeClr val="accent3"/>
                          </a:solidFill>
                        </a:rPr>
                        <a:t>100%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dirty="0">
                          <a:solidFill>
                            <a:schemeClr val="tx2"/>
                          </a:solidFill>
                        </a:rPr>
                        <a:t>≥95%</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r>
              <a:tr h="384048">
                <a:tc>
                  <a:txBody>
                    <a:bodyPr/>
                    <a:lstStyle/>
                    <a:p>
                      <a:pPr indent="0" marL="0">
                        <a:buNone/>
                      </a:pPr>
                      <a:r>
                        <a:rPr lang="en-US" sz="1400" dirty="0">
                          <a:solidFill>
                            <a:schemeClr val="tx1"/>
                          </a:solidFill>
                        </a:rPr>
                        <a:t>Optimality gap, median</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b="1" dirty="0">
                          <a:solidFill>
                            <a:schemeClr val="accent3"/>
                          </a:solidFill>
                        </a:rPr>
                        <a:t>0.0%</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c>
                  <a:txBody>
                    <a:bodyPr/>
                    <a:lstStyle/>
                    <a:p>
                      <a:pPr algn="r" indent="0" marL="0">
                        <a:buNone/>
                      </a:pPr>
                      <a:r>
                        <a:rPr lang="en-US" sz="1400" dirty="0">
                          <a:solidFill>
                            <a:schemeClr val="tx2"/>
                          </a:solidFill>
                        </a:rPr>
                        <a:t>≤2%</a:t>
                      </a:r>
                      <a:endParaRPr lang="en-US" sz="1400" dirty="0"/>
                    </a:p>
                  </a:txBody>
                  <a:tcPr marL="91440" marR="91440" marT="27432" marB="27432">
                    <a:lnL w="9525" cap="flat" cmpd="sng" algn="ctr">
                      <a:solidFill>
                        <a:srgbClr val="E4E0F5"/>
                      </a:solidFill>
                      <a:prstDash val="solid"/>
                      <a:round/>
                      <a:headEnd type="none" w="med" len="med"/>
                      <a:tailEnd type="none" w="med" len="med"/>
                    </a:lnL>
                    <a:lnR w="9525" cap="flat" cmpd="sng" algn="ctr">
                      <a:solidFill>
                        <a:srgbClr val="E4E0F5"/>
                      </a:solidFill>
                      <a:prstDash val="solid"/>
                      <a:round/>
                      <a:headEnd type="none" w="med" len="med"/>
                      <a:tailEnd type="none" w="med" len="med"/>
                    </a:lnR>
                    <a:lnT w="9525" cap="flat" cmpd="sng" algn="ctr">
                      <a:solidFill>
                        <a:srgbClr val="E4E0F5"/>
                      </a:solidFill>
                      <a:prstDash val="solid"/>
                      <a:round/>
                      <a:headEnd type="none" w="med" len="med"/>
                      <a:tailEnd type="none" w="med" len="med"/>
                    </a:lnT>
                    <a:lnB w="9525" cap="flat" cmpd="sng" algn="ctr">
                      <a:solidFill>
                        <a:srgbClr val="E4E0F5"/>
                      </a:solidFill>
                      <a:prstDash val="solid"/>
                      <a:round/>
                      <a:headEnd type="none" w="med" len="med"/>
                      <a:tailEnd type="none" w="med" len="med"/>
                    </a:lnB>
                  </a:tcPr>
                </a:tc>
              </a:tr>
            </a:tbl>
          </a:graphicData>
        </a:graphic>
      </p:graphicFrame>
      <p:sp>
        <p:nvSpPr>
          <p:cNvPr id="5" name="Text 2"/>
          <p:cNvSpPr txBox="1"/>
          <p:nvPr/>
        </p:nvSpPr>
        <p:spPr>
          <a:xfrm>
            <a:off x="548640" y="4343400"/>
            <a:ext cx="5120640" cy="731520"/>
          </a:xfrm>
          <a:prstGeom prst="rect">
            <a:avLst/>
          </a:prstGeom>
          <a:noFill/>
          <a:ln/>
        </p:spPr>
        <p:txBody>
          <a:bodyPr wrap="square" lIns="0" tIns="0" rIns="0" bIns="0" rtlCol="0" anchor="t"/>
          <a:lstStyle/>
          <a:p>
            <a:pPr indent="0" marL="0">
              <a:buNone/>
            </a:pPr>
            <a:r>
              <a:rPr lang="en-US" sz="1300" dirty="0">
                <a:solidFill>
                  <a:schemeClr val="tx2"/>
                </a:solidFill>
              </a:rPr>
              <a:t>Engine: 500-case refusal set and byte-identical result hashes pass. Back-test MAPE 5.9% is a self-consistency check, not accuracy.</a:t>
            </a:r>
            <a:endParaRPr lang="en-US" sz="1300" dirty="0"/>
          </a:p>
        </p:txBody>
      </p:sp>
      <p:sp>
        <p:nvSpPr>
          <p:cNvPr id="6" name="Text 3"/>
          <p:cNvSpPr txBox="1"/>
          <p:nvPr/>
        </p:nvSpPr>
        <p:spPr>
          <a:xfrm>
            <a:off x="6126480" y="1508760"/>
            <a:ext cx="54864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Engine p95 time as a multiple of budget</a:t>
            </a:r>
            <a:endParaRPr lang="en-US" sz="1800" dirty="0"/>
          </a:p>
        </p:txBody>
      </p:sp>
      <p:graphicFrame>
        <p:nvGraphicFramePr>
          <p:cNvPr id="7" name="Chart 0" descr=""/>
          <p:cNvGraphicFramePr/>
          <p:nvPr/>
        </p:nvGraphicFramePr>
        <p:xfrm>
          <a:off x="6126480" y="187452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8" name="Evidence Security"/>
          <p:cNvSpPr/>
          <p:nvPr/>
        </p:nvSpPr>
        <p:spPr>
          <a:xfrm>
            <a:off x="548640" y="5257800"/>
            <a:ext cx="3611880" cy="1051560"/>
          </a:xfrm>
          <a:prstGeom prst="roundRect">
            <a:avLst>
              <a:gd name="adj" fmla="val 6957"/>
            </a:avLst>
          </a:prstGeom>
          <a:solidFill>
            <a:schemeClr val="bg2"/>
          </a:solidFill>
          <a:ln w="12700">
            <a:solidFill>
              <a:schemeClr val="bg2"/>
            </a:solidFill>
            <a:prstDash val="solid"/>
          </a:ln>
        </p:spPr>
      </p:sp>
      <p:sp>
        <p:nvSpPr>
          <p:cNvPr id="9" name="Status Security"/>
          <p:cNvSpPr/>
          <p:nvPr/>
        </p:nvSpPr>
        <p:spPr>
          <a:xfrm>
            <a:off x="685800" y="5394960"/>
            <a:ext cx="182880" cy="182880"/>
          </a:xfrm>
          <a:prstGeom prst="ellipse">
            <a:avLst/>
          </a:prstGeom>
          <a:solidFill>
            <a:schemeClr val="accent3"/>
          </a:solidFill>
          <a:ln w="12700">
            <a:solidFill>
              <a:schemeClr val="accent3"/>
            </a:solidFill>
            <a:prstDash val="solid"/>
          </a:ln>
        </p:spPr>
      </p:sp>
      <p:sp>
        <p:nvSpPr>
          <p:cNvPr id="10" name="Text 6"/>
          <p:cNvSpPr txBox="1"/>
          <p:nvPr/>
        </p:nvSpPr>
        <p:spPr>
          <a:xfrm>
            <a:off x="960120" y="5349240"/>
            <a:ext cx="3017520" cy="274320"/>
          </a:xfrm>
          <a:prstGeom prst="rect">
            <a:avLst/>
          </a:prstGeom>
          <a:noFill/>
          <a:ln/>
        </p:spPr>
        <p:txBody>
          <a:bodyPr wrap="square" lIns="0" tIns="0" rIns="0" bIns="0" rtlCol="0" anchor="ctr"/>
          <a:lstStyle/>
          <a:p>
            <a:pPr indent="0" marL="0">
              <a:buNone/>
            </a:pPr>
            <a:r>
              <a:rPr lang="en-US" sz="1400" b="1" dirty="0">
                <a:solidFill>
                  <a:schemeClr val="tx1"/>
                </a:solidFill>
              </a:rPr>
              <a:t>Security</a:t>
            </a:r>
            <a:endParaRPr lang="en-US" sz="1400" dirty="0"/>
          </a:p>
        </p:txBody>
      </p:sp>
      <p:sp>
        <p:nvSpPr>
          <p:cNvPr id="11" name="Text 7"/>
          <p:cNvSpPr txBox="1"/>
          <p:nvPr/>
        </p:nvSpPr>
        <p:spPr>
          <a:xfrm>
            <a:off x="685800" y="5623560"/>
            <a:ext cx="3383280" cy="658368"/>
          </a:xfrm>
          <a:prstGeom prst="rect">
            <a:avLst/>
          </a:prstGeom>
          <a:noFill/>
          <a:ln/>
        </p:spPr>
        <p:txBody>
          <a:bodyPr wrap="square" lIns="0" tIns="0" rIns="0" bIns="0" rtlCol="0" anchor="t"/>
          <a:lstStyle/>
          <a:p>
            <a:pPr indent="0" marL="0">
              <a:buNone/>
            </a:pPr>
            <a:r>
              <a:rPr lang="en-US" sz="1200" dirty="0">
                <a:solidFill>
                  <a:schemeClr val="tx2"/>
                </a:solidFill>
              </a:rPr>
              <a:t>bandit: one low finding, fixed. pip-audit: no known vulnerabilities. gitleaks in CI. Argon2 sign-in, signed cookie, typed-tool boundary</a:t>
            </a:r>
            <a:endParaRPr lang="en-US" sz="1200" dirty="0"/>
          </a:p>
        </p:txBody>
      </p:sp>
      <p:sp>
        <p:nvSpPr>
          <p:cNvPr id="12" name="Evidence Deployment"/>
          <p:cNvSpPr/>
          <p:nvPr/>
        </p:nvSpPr>
        <p:spPr>
          <a:xfrm>
            <a:off x="4297680" y="5257800"/>
            <a:ext cx="3611880" cy="1051560"/>
          </a:xfrm>
          <a:prstGeom prst="roundRect">
            <a:avLst>
              <a:gd name="adj" fmla="val 6957"/>
            </a:avLst>
          </a:prstGeom>
          <a:solidFill>
            <a:schemeClr val="bg2"/>
          </a:solidFill>
          <a:ln w="12700">
            <a:solidFill>
              <a:schemeClr val="bg2"/>
            </a:solidFill>
            <a:prstDash val="solid"/>
          </a:ln>
        </p:spPr>
      </p:sp>
      <p:sp>
        <p:nvSpPr>
          <p:cNvPr id="13" name="Status Deployment"/>
          <p:cNvSpPr/>
          <p:nvPr/>
        </p:nvSpPr>
        <p:spPr>
          <a:xfrm>
            <a:off x="4434840" y="5394960"/>
            <a:ext cx="182880" cy="182880"/>
          </a:xfrm>
          <a:prstGeom prst="ellipse">
            <a:avLst/>
          </a:prstGeom>
          <a:solidFill>
            <a:schemeClr val="accent2"/>
          </a:solidFill>
          <a:ln w="12700">
            <a:solidFill>
              <a:schemeClr val="accent2"/>
            </a:solidFill>
            <a:prstDash val="solid"/>
          </a:ln>
        </p:spPr>
      </p:sp>
      <p:sp>
        <p:nvSpPr>
          <p:cNvPr id="14" name="Text 10"/>
          <p:cNvSpPr txBox="1"/>
          <p:nvPr/>
        </p:nvSpPr>
        <p:spPr>
          <a:xfrm>
            <a:off x="4709160" y="5349240"/>
            <a:ext cx="3017520" cy="274320"/>
          </a:xfrm>
          <a:prstGeom prst="rect">
            <a:avLst/>
          </a:prstGeom>
          <a:noFill/>
          <a:ln/>
        </p:spPr>
        <p:txBody>
          <a:bodyPr wrap="square" lIns="0" tIns="0" rIns="0" bIns="0" rtlCol="0" anchor="ctr"/>
          <a:lstStyle/>
          <a:p>
            <a:pPr indent="0" marL="0">
              <a:buNone/>
            </a:pPr>
            <a:r>
              <a:rPr lang="en-US" sz="1400" b="1" dirty="0">
                <a:solidFill>
                  <a:schemeClr val="tx1"/>
                </a:solidFill>
              </a:rPr>
              <a:t>Deployment</a:t>
            </a:r>
            <a:endParaRPr lang="en-US" sz="1400" dirty="0"/>
          </a:p>
        </p:txBody>
      </p:sp>
      <p:sp>
        <p:nvSpPr>
          <p:cNvPr id="15" name="Text 11"/>
          <p:cNvSpPr txBox="1"/>
          <p:nvPr/>
        </p:nvSpPr>
        <p:spPr>
          <a:xfrm>
            <a:off x="4434840" y="5623560"/>
            <a:ext cx="3383280" cy="658368"/>
          </a:xfrm>
          <a:prstGeom prst="rect">
            <a:avLst/>
          </a:prstGeom>
          <a:noFill/>
          <a:ln/>
        </p:spPr>
        <p:txBody>
          <a:bodyPr wrap="square" lIns="0" tIns="0" rIns="0" bIns="0" rtlCol="0" anchor="t"/>
          <a:lstStyle/>
          <a:p>
            <a:pPr indent="0" marL="0">
              <a:buNone/>
            </a:pPr>
            <a:r>
              <a:rPr lang="en-US" sz="1200" dirty="0">
                <a:solidFill>
                  <a:schemeClr val="tx2"/>
                </a:solidFill>
              </a:rPr>
              <a:t>Docker, compose, nginx and deploy/rollback scripts exist. Rollback on a non-production VM is not yet evidenced</a:t>
            </a:r>
            <a:endParaRPr lang="en-US" sz="1200" dirty="0"/>
          </a:p>
        </p:txBody>
      </p:sp>
      <p:sp>
        <p:nvSpPr>
          <p:cNvPr id="16" name="Evidence Not yet done"/>
          <p:cNvSpPr/>
          <p:nvPr/>
        </p:nvSpPr>
        <p:spPr>
          <a:xfrm>
            <a:off x="8046720" y="5257800"/>
            <a:ext cx="3611880" cy="1051560"/>
          </a:xfrm>
          <a:prstGeom prst="roundRect">
            <a:avLst>
              <a:gd name="adj" fmla="val 6957"/>
            </a:avLst>
          </a:prstGeom>
          <a:solidFill>
            <a:schemeClr val="bg2"/>
          </a:solidFill>
          <a:ln w="12700">
            <a:solidFill>
              <a:schemeClr val="bg2"/>
            </a:solidFill>
            <a:prstDash val="solid"/>
          </a:ln>
        </p:spPr>
      </p:sp>
      <p:sp>
        <p:nvSpPr>
          <p:cNvPr id="17" name="Status Not yet done"/>
          <p:cNvSpPr/>
          <p:nvPr/>
        </p:nvSpPr>
        <p:spPr>
          <a:xfrm>
            <a:off x="8183880" y="5394960"/>
            <a:ext cx="182880" cy="182880"/>
          </a:xfrm>
          <a:prstGeom prst="ellipse">
            <a:avLst/>
          </a:prstGeom>
          <a:solidFill>
            <a:schemeClr val="accent4"/>
          </a:solidFill>
          <a:ln w="12700">
            <a:solidFill>
              <a:schemeClr val="accent4"/>
            </a:solidFill>
            <a:prstDash val="solid"/>
          </a:ln>
        </p:spPr>
      </p:sp>
      <p:sp>
        <p:nvSpPr>
          <p:cNvPr id="18" name="Text 14"/>
          <p:cNvSpPr txBox="1"/>
          <p:nvPr/>
        </p:nvSpPr>
        <p:spPr>
          <a:xfrm>
            <a:off x="8458200" y="5349240"/>
            <a:ext cx="3017520" cy="274320"/>
          </a:xfrm>
          <a:prstGeom prst="rect">
            <a:avLst/>
          </a:prstGeom>
          <a:noFill/>
          <a:ln/>
        </p:spPr>
        <p:txBody>
          <a:bodyPr wrap="square" lIns="0" tIns="0" rIns="0" bIns="0" rtlCol="0" anchor="ctr"/>
          <a:lstStyle/>
          <a:p>
            <a:pPr indent="0" marL="0">
              <a:buNone/>
            </a:pPr>
            <a:r>
              <a:rPr lang="en-US" sz="1400" b="1" dirty="0">
                <a:solidFill>
                  <a:schemeClr val="tx1"/>
                </a:solidFill>
              </a:rPr>
              <a:t>Not yet done</a:t>
            </a:r>
            <a:endParaRPr lang="en-US" sz="1400" dirty="0"/>
          </a:p>
        </p:txBody>
      </p:sp>
      <p:sp>
        <p:nvSpPr>
          <p:cNvPr id="19" name="Text 15"/>
          <p:cNvSpPr txBox="1"/>
          <p:nvPr/>
        </p:nvSpPr>
        <p:spPr>
          <a:xfrm>
            <a:off x="8183880" y="5623560"/>
            <a:ext cx="3383280" cy="658368"/>
          </a:xfrm>
          <a:prstGeom prst="rect">
            <a:avLst/>
          </a:prstGeom>
          <a:noFill/>
          <a:ln/>
        </p:spPr>
        <p:txBody>
          <a:bodyPr wrap="square" lIns="0" tIns="0" rIns="0" bIns="0" rtlCol="0" anchor="t"/>
          <a:lstStyle/>
          <a:p>
            <a:pPr indent="0" marL="0">
              <a:buNone/>
            </a:pPr>
            <a:r>
              <a:rPr lang="en-US" sz="1200" dirty="0">
                <a:solidFill>
                  <a:schemeClr val="tx2"/>
                </a:solidFill>
              </a:rPr>
              <a:t>Container scan (trivy) and live-model evals in CI</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51560"/>
          </a:xfrm>
          <a:prstGeom prst="rect">
            <a:avLst/>
          </a:prstGeom>
          <a:noFill/>
          <a:ln/>
        </p:spPr>
        <p:txBody>
          <a:bodyPr wrap="square" lIns="0" tIns="0" rIns="0" bIns="0" rtlCol="0" anchor="t"/>
          <a:lstStyle/>
          <a:p>
            <a:pPr algn="l" indent="0" marL="0">
              <a:buNone/>
            </a:pPr>
            <a:r>
              <a:rPr lang="en-US" sz="3200" b="1" dirty="0">
                <a:solidFill>
                  <a:schemeClr val="bg1"/>
                </a:solidFill>
              </a:rPr>
              <a:t>A working proof of concept that says when it cannot answer, and what it would take to ship</a:t>
            </a:r>
            <a:endParaRPr lang="en-US" sz="3200" dirty="0"/>
          </a:p>
        </p:txBody>
      </p:sp>
      <p:sp>
        <p:nvSpPr>
          <p:cNvPr id="3" name="Column 1"/>
          <p:cNvSpPr/>
          <p:nvPr/>
        </p:nvSpPr>
        <p:spPr>
          <a:xfrm>
            <a:off x="548640" y="1737360"/>
            <a:ext cx="5440680" cy="3611880"/>
          </a:xfrm>
          <a:prstGeom prst="roundRect">
            <a:avLst>
              <a:gd name="adj" fmla="val 3038"/>
            </a:avLst>
          </a:prstGeom>
          <a:solidFill>
            <a:schemeClr val="bg1">
              <a:alpha val="8000"/>
            </a:schemeClr>
          </a:solidFill>
          <a:ln w="9525">
            <a:solidFill>
              <a:schemeClr val="bg1">
                <a:alpha val="20000"/>
              </a:schemeClr>
            </a:solidFill>
            <a:prstDash val="solid"/>
          </a:ln>
        </p:spPr>
      </p:sp>
      <p:sp>
        <p:nvSpPr>
          <p:cNvPr id="4" name="Dot 1"/>
          <p:cNvSpPr/>
          <p:nvPr/>
        </p:nvSpPr>
        <p:spPr>
          <a:xfrm>
            <a:off x="822960" y="1965960"/>
            <a:ext cx="256032" cy="256032"/>
          </a:xfrm>
          <a:prstGeom prst="ellipse">
            <a:avLst/>
          </a:prstGeom>
          <a:solidFill>
            <a:schemeClr val="accent2"/>
          </a:solidFill>
          <a:ln w="12700">
            <a:solidFill>
              <a:schemeClr val="accent2"/>
            </a:solidFill>
            <a:prstDash val="solid"/>
          </a:ln>
        </p:spPr>
      </p:sp>
      <p:sp>
        <p:nvSpPr>
          <p:cNvPr id="5" name="Text 3"/>
          <p:cNvSpPr txBox="1"/>
          <p:nvPr/>
        </p:nvSpPr>
        <p:spPr>
          <a:xfrm>
            <a:off x="1188720" y="1901952"/>
            <a:ext cx="457200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Limitations and residual risk</a:t>
            </a:r>
            <a:endParaRPr lang="en-US" sz="2000" dirty="0"/>
          </a:p>
        </p:txBody>
      </p:sp>
      <p:sp>
        <p:nvSpPr>
          <p:cNvPr id="6" name="Text 4"/>
          <p:cNvSpPr txBox="1"/>
          <p:nvPr/>
        </p:nvSpPr>
        <p:spPr>
          <a:xfrm>
            <a:off x="822960" y="2514600"/>
            <a:ext cx="493776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bg2"/>
                </a:solidFill>
              </a:rPr>
              <a:t>Data is synthetic. The back-test only proves self-consistency, not real-world accuracy</a:t>
            </a:r>
            <a:endParaRPr lang="en-US" sz="1500" dirty="0"/>
          </a:p>
          <a:p>
            <a:pPr marL="342900" indent="-342900">
              <a:spcAft>
                <a:spcPts val="900"/>
              </a:spcAft>
              <a:buSzPct val="100000"/>
              <a:buChar char="•"/>
            </a:pPr>
            <a:r>
              <a:rPr lang="en-US" sz="1500" dirty="0">
                <a:solidFill>
                  <a:schemeClr val="bg2"/>
                </a:solidFill>
              </a:rPr>
              <a:t>Engine misses its speed budget beyond one scenario on 20 SKUs</a:t>
            </a:r>
            <a:endParaRPr lang="en-US" sz="1500" dirty="0"/>
          </a:p>
          <a:p>
            <a:pPr marL="342900" indent="-342900">
              <a:spcAft>
                <a:spcPts val="900"/>
              </a:spcAft>
              <a:buSzPct val="100000"/>
              <a:buChar char="•"/>
            </a:pPr>
            <a:r>
              <a:rPr lang="en-US" sz="1500" dirty="0">
                <a:solidFill>
                  <a:schemeClr val="bg2"/>
                </a:solidFill>
              </a:rPr>
              <a:t>P10–P90 bands are sensitivity ranges, not confidence intervals</a:t>
            </a:r>
            <a:endParaRPr lang="en-US" sz="1500" dirty="0"/>
          </a:p>
          <a:p>
            <a:pPr marL="342900" indent="-342900">
              <a:spcAft>
                <a:spcPts val="900"/>
              </a:spcAft>
              <a:buSzPct val="100000"/>
              <a:buChar char="•"/>
            </a:pPr>
            <a:r>
              <a:rPr lang="en-US" sz="1500" dirty="0">
                <a:solidFill>
                  <a:schemeClr val="bg2"/>
                </a:solidFill>
              </a:rPr>
              <a:t>No competitor reaction or distribution changes modelled</a:t>
            </a:r>
            <a:endParaRPr lang="en-US" sz="1500" dirty="0"/>
          </a:p>
          <a:p>
            <a:pPr marL="342900" indent="-342900">
              <a:spcAft>
                <a:spcPts val="900"/>
              </a:spcAft>
              <a:buSzPct val="100000"/>
              <a:buChar char="•"/>
            </a:pPr>
            <a:r>
              <a:rPr lang="en-US" sz="1500" dirty="0">
                <a:solidFill>
                  <a:schemeClr val="bg2"/>
                </a:solidFill>
              </a:rPr>
              <a:t>Persona differences move willingness-to-pay only slightly</a:t>
            </a:r>
            <a:endParaRPr lang="en-US" sz="1500" dirty="0"/>
          </a:p>
        </p:txBody>
      </p:sp>
      <p:sp>
        <p:nvSpPr>
          <p:cNvPr id="7" name="Column 2"/>
          <p:cNvSpPr/>
          <p:nvPr/>
        </p:nvSpPr>
        <p:spPr>
          <a:xfrm>
            <a:off x="6172200" y="1737360"/>
            <a:ext cx="5440680" cy="3611880"/>
          </a:xfrm>
          <a:prstGeom prst="roundRect">
            <a:avLst>
              <a:gd name="adj" fmla="val 3038"/>
            </a:avLst>
          </a:prstGeom>
          <a:solidFill>
            <a:schemeClr val="bg1">
              <a:alpha val="8000"/>
            </a:schemeClr>
          </a:solidFill>
          <a:ln w="9525">
            <a:solidFill>
              <a:schemeClr val="bg1">
                <a:alpha val="20000"/>
              </a:schemeClr>
            </a:solidFill>
            <a:prstDash val="solid"/>
          </a:ln>
        </p:spPr>
      </p:sp>
      <p:sp>
        <p:nvSpPr>
          <p:cNvPr id="8" name="Dot 2"/>
          <p:cNvSpPr/>
          <p:nvPr/>
        </p:nvSpPr>
        <p:spPr>
          <a:xfrm>
            <a:off x="6446520" y="1965960"/>
            <a:ext cx="256032" cy="256032"/>
          </a:xfrm>
          <a:prstGeom prst="ellipse">
            <a:avLst/>
          </a:prstGeom>
          <a:solidFill>
            <a:schemeClr val="accent3"/>
          </a:solidFill>
          <a:ln w="12700">
            <a:solidFill>
              <a:schemeClr val="accent3"/>
            </a:solidFill>
            <a:prstDash val="solid"/>
          </a:ln>
        </p:spPr>
      </p:sp>
      <p:sp>
        <p:nvSpPr>
          <p:cNvPr id="9" name="Text 7"/>
          <p:cNvSpPr txBox="1"/>
          <p:nvPr/>
        </p:nvSpPr>
        <p:spPr>
          <a:xfrm>
            <a:off x="6812280" y="1901952"/>
            <a:ext cx="4572000" cy="4114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From proof of concept to production</a:t>
            </a:r>
            <a:endParaRPr lang="en-US" sz="2000" dirty="0"/>
          </a:p>
        </p:txBody>
      </p:sp>
      <p:sp>
        <p:nvSpPr>
          <p:cNvPr id="10" name="Text 8"/>
          <p:cNvSpPr txBox="1"/>
          <p:nvPr/>
        </p:nvSpPr>
        <p:spPr>
          <a:xfrm>
            <a:off x="6446520" y="2514600"/>
            <a:ext cx="493776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bg2"/>
                </a:solidFill>
              </a:rPr>
              <a:t>Real, de-identified data with a PII scan, then calibrate and validate on a holdout</a:t>
            </a:r>
            <a:endParaRPr lang="en-US" sz="1500" dirty="0"/>
          </a:p>
          <a:p>
            <a:pPr marL="342900" indent="-342900">
              <a:spcAft>
                <a:spcPts val="900"/>
              </a:spcAft>
              <a:buSzPct val="100000"/>
              <a:buChar char="•"/>
            </a:pPr>
            <a:r>
              <a:rPr lang="en-US" sz="1500" dirty="0">
                <a:solidFill>
                  <a:schemeClr val="bg2"/>
                </a:solidFill>
              </a:rPr>
              <a:t>Meet the speed budget: cache and profile the batch path</a:t>
            </a:r>
            <a:endParaRPr lang="en-US" sz="1500" dirty="0"/>
          </a:p>
          <a:p>
            <a:pPr marL="342900" indent="-342900">
              <a:spcAft>
                <a:spcPts val="900"/>
              </a:spcAft>
              <a:buSzPct val="100000"/>
              <a:buChar char="•"/>
            </a:pPr>
            <a:r>
              <a:rPr lang="en-US" sz="1500" dirty="0">
                <a:solidFill>
                  <a:schemeClr val="bg2"/>
                </a:solidFill>
              </a:rPr>
              <a:t>Single sign-on, roles and monitoring for drift and cost</a:t>
            </a:r>
            <a:endParaRPr lang="en-US" sz="1500" dirty="0"/>
          </a:p>
          <a:p>
            <a:pPr marL="342900" indent="-342900">
              <a:spcAft>
                <a:spcPts val="900"/>
              </a:spcAft>
              <a:buSzPct val="100000"/>
              <a:buChar char="•"/>
            </a:pPr>
            <a:r>
              <a:rPr lang="en-US" sz="1500" dirty="0">
                <a:solidFill>
                  <a:schemeClr val="bg2"/>
                </a:solidFill>
              </a:rPr>
              <a:t>Capture VM rollback evidence, run container scans, add live-model evals to CI</a:t>
            </a:r>
            <a:endParaRPr lang="en-US" sz="1500" dirty="0"/>
          </a:p>
          <a:p>
            <a:pPr marL="342900" indent="-342900">
              <a:spcAft>
                <a:spcPts val="900"/>
              </a:spcAft>
              <a:buSzPct val="100000"/>
              <a:buChar char="•"/>
            </a:pPr>
            <a:r>
              <a:rPr lang="en-US" sz="1500" dirty="0">
                <a:solidFill>
                  <a:schemeClr val="bg2"/>
                </a:solidFill>
              </a:rPr>
              <a:t>Review the assumption ranges with the business owner</a:t>
            </a:r>
            <a:endParaRPr lang="en-US" sz="1500" dirty="0"/>
          </a:p>
        </p:txBody>
      </p:sp>
      <p:sp>
        <p:nvSpPr>
          <p:cNvPr id="11" name="Text 9"/>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800" b="1" i="1" dirty="0">
                <a:solidFill>
                  <a:schemeClr val="accent2"/>
                </a:solidFill>
              </a:rPr>
              <a:t>Every number in an answer traces to a tool result, and a refused scenario never gets a number.</a:t>
            </a:r>
            <a:endParaRPr lang="en-US" sz="1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Revenue Growth Simulator">
  <a:themeElements>
    <a:clrScheme name="Revenue Growth Simulator">
      <a:dk1>
        <a:srgbClr val="1E1B3A"/>
      </a:dk1>
      <a:lt1>
        <a:srgbClr val="FFFFFF"/>
      </a:lt1>
      <a:dk2>
        <a:srgbClr val="55506E"/>
      </a:dk2>
      <a:lt2>
        <a:srgbClr val="F3F0FF"/>
      </a:lt2>
      <a:accent1>
        <a:srgbClr val="6D28D9"/>
      </a:accent1>
      <a:accent2>
        <a:srgbClr val="F59E0B"/>
      </a:accent2>
      <a:accent3>
        <a:srgbClr val="15803D"/>
      </a:accent3>
      <a:accent4>
        <a:srgbClr val="DC2626"/>
      </a:accent4>
      <a:accent5>
        <a:srgbClr val="0E7490"/>
      </a:accent5>
      <a:accent6>
        <a:srgbClr val="9CA3AF"/>
      </a:accent6>
      <a:hlink>
        <a:srgbClr val="6D28D9"/>
      </a:hlink>
      <a:folHlink>
        <a:srgbClr val="5B21B6"/>
      </a:folHlink>
    </a:clrScheme>
    <a:fontScheme name="Revenue Growth Simul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Growth Scenario Simulator</dc:title>
  <dc:subject>Capstone presentation deck</dc:subject>
  <dc:creator>PptxGenJS</dc:creator>
  <cp:lastModifiedBy>PptxGenJS</cp:lastModifiedBy>
  <cp:revision>1</cp:revision>
  <dcterms:created xsi:type="dcterms:W3CDTF">2026-10-07T04:42:45Z</dcterms:created>
  <dcterms:modified xsi:type="dcterms:W3CDTF">2026-10-07T04:42:45Z</dcterms:modified>
</cp:coreProperties>
</file>